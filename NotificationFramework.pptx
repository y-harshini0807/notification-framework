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63738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63738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355" y="2"/>
            <a:ext cx="9144000" cy="960119"/>
          </a:xfrm>
          <a:custGeom>
            <a:avLst/>
            <a:gdLst/>
            <a:ahLst/>
            <a:cxnLst/>
            <a:rect l="l" t="t" r="r" b="b"/>
            <a:pathLst>
              <a:path w="9144000" h="960119">
                <a:moveTo>
                  <a:pt x="9143631" y="0"/>
                </a:moveTo>
                <a:lnTo>
                  <a:pt x="0" y="0"/>
                </a:lnTo>
                <a:lnTo>
                  <a:pt x="0" y="959764"/>
                </a:lnTo>
                <a:lnTo>
                  <a:pt x="4572000" y="959764"/>
                </a:lnTo>
                <a:lnTo>
                  <a:pt x="9143631" y="959764"/>
                </a:lnTo>
                <a:lnTo>
                  <a:pt x="9143631" y="0"/>
                </a:lnTo>
                <a:close/>
              </a:path>
            </a:pathLst>
          </a:custGeom>
          <a:solidFill>
            <a:srgbClr val="19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-355" y="2"/>
            <a:ext cx="9144000" cy="960119"/>
          </a:xfrm>
          <a:custGeom>
            <a:avLst/>
            <a:gdLst/>
            <a:ahLst/>
            <a:cxnLst/>
            <a:rect l="l" t="t" r="r" b="b"/>
            <a:pathLst>
              <a:path w="9144000" h="960119">
                <a:moveTo>
                  <a:pt x="4572000" y="959764"/>
                </a:moveTo>
                <a:lnTo>
                  <a:pt x="0" y="959764"/>
                </a:lnTo>
                <a:lnTo>
                  <a:pt x="0" y="0"/>
                </a:lnTo>
                <a:lnTo>
                  <a:pt x="9143631" y="0"/>
                </a:lnTo>
                <a:lnTo>
                  <a:pt x="9143631" y="959764"/>
                </a:lnTo>
                <a:lnTo>
                  <a:pt x="4572000" y="959764"/>
                </a:lnTo>
                <a:close/>
              </a:path>
            </a:pathLst>
          </a:custGeom>
          <a:ln w="12599">
            <a:solidFill>
              <a:srgbClr val="192A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2"/>
            <a:ext cx="164465" cy="960119"/>
          </a:xfrm>
          <a:custGeom>
            <a:avLst/>
            <a:gdLst/>
            <a:ahLst/>
            <a:cxnLst/>
            <a:rect l="l" t="t" r="r" b="b"/>
            <a:pathLst>
              <a:path w="164465" h="960119">
                <a:moveTo>
                  <a:pt x="164160" y="0"/>
                </a:moveTo>
                <a:lnTo>
                  <a:pt x="0" y="0"/>
                </a:lnTo>
                <a:lnTo>
                  <a:pt x="0" y="959764"/>
                </a:lnTo>
                <a:lnTo>
                  <a:pt x="82080" y="959764"/>
                </a:lnTo>
                <a:lnTo>
                  <a:pt x="164160" y="959764"/>
                </a:lnTo>
                <a:lnTo>
                  <a:pt x="164160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2"/>
            <a:ext cx="164465" cy="960119"/>
          </a:xfrm>
          <a:custGeom>
            <a:avLst/>
            <a:gdLst/>
            <a:ahLst/>
            <a:cxnLst/>
            <a:rect l="l" t="t" r="r" b="b"/>
            <a:pathLst>
              <a:path w="164465" h="960119">
                <a:moveTo>
                  <a:pt x="82080" y="959764"/>
                </a:moveTo>
                <a:lnTo>
                  <a:pt x="0" y="959764"/>
                </a:lnTo>
                <a:lnTo>
                  <a:pt x="0" y="0"/>
                </a:lnTo>
                <a:lnTo>
                  <a:pt x="164160" y="0"/>
                </a:lnTo>
                <a:lnTo>
                  <a:pt x="164160" y="959764"/>
                </a:lnTo>
                <a:lnTo>
                  <a:pt x="82080" y="959764"/>
                </a:lnTo>
                <a:close/>
              </a:path>
            </a:pathLst>
          </a:custGeom>
          <a:ln w="12599">
            <a:solidFill>
              <a:srgbClr val="0C93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460" y="299785"/>
            <a:ext cx="896683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0264" y="1792698"/>
            <a:ext cx="4102100" cy="1241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63738A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1264" y="4941648"/>
            <a:ext cx="29464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CAD4E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92A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851294" y="-6703"/>
            <a:ext cx="2298700" cy="5156200"/>
            <a:chOff x="6851294" y="-6703"/>
            <a:chExt cx="2298700" cy="5156200"/>
          </a:xfrm>
        </p:grpSpPr>
        <p:sp>
          <p:nvSpPr>
            <p:cNvPr id="4" name="object 4" descr=""/>
            <p:cNvSpPr/>
            <p:nvPr/>
          </p:nvSpPr>
          <p:spPr>
            <a:xfrm>
              <a:off x="6857644" y="-353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2285631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1143000" y="5143309"/>
                  </a:lnTo>
                  <a:lnTo>
                    <a:pt x="2285631" y="5143309"/>
                  </a:lnTo>
                  <a:lnTo>
                    <a:pt x="2285631" y="0"/>
                  </a:lnTo>
                  <a:close/>
                </a:path>
              </a:pathLst>
            </a:custGeom>
            <a:solidFill>
              <a:srgbClr val="0C938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7644" y="-353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114300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2285631" y="0"/>
                  </a:lnTo>
                  <a:lnTo>
                    <a:pt x="2285631" y="5143309"/>
                  </a:lnTo>
                  <a:lnTo>
                    <a:pt x="1143000" y="514330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686444" y="-353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6831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28600" y="5143309"/>
                  </a:lnTo>
                  <a:lnTo>
                    <a:pt x="456831" y="5143309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86444" y="-353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22860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5143309"/>
                  </a:lnTo>
                  <a:lnTo>
                    <a:pt x="228600" y="514330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584" y="1053632"/>
            <a:ext cx="3978910" cy="1640839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480"/>
              </a:lnSpc>
            </a:pPr>
            <a:r>
              <a:rPr dirty="0" sz="5200" spc="-210"/>
              <a:t>Notification </a:t>
            </a:r>
            <a:r>
              <a:rPr dirty="0" sz="5200" spc="-310">
                <a:solidFill>
                  <a:srgbClr val="13B7A5"/>
                </a:solidFill>
              </a:rPr>
              <a:t>Framework</a:t>
            </a:r>
            <a:endParaRPr sz="5200"/>
          </a:p>
        </p:txBody>
      </p:sp>
      <p:sp>
        <p:nvSpPr>
          <p:cNvPr id="9" name="object 9" descr=""/>
          <p:cNvSpPr txBox="1"/>
          <p:nvPr/>
        </p:nvSpPr>
        <p:spPr>
          <a:xfrm>
            <a:off x="535584" y="3019947"/>
            <a:ext cx="68472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dirty="0" sz="13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CAD4E0"/>
                </a:solidFill>
                <a:latin typeface="Arial MT"/>
                <a:cs typeface="Arial MT"/>
              </a:rPr>
              <a:t>unified</a:t>
            </a:r>
            <a:r>
              <a:rPr dirty="0" sz="1300" spc="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CAD4E0"/>
                </a:solidFill>
                <a:latin typeface="Arial MT"/>
                <a:cs typeface="Arial MT"/>
              </a:rPr>
              <a:t>multi-</a:t>
            </a: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channel</a:t>
            </a:r>
            <a:r>
              <a:rPr dirty="0" sz="13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CAD4E0"/>
                </a:solidFill>
                <a:latin typeface="Arial MT"/>
                <a:cs typeface="Arial MT"/>
              </a:rPr>
              <a:t>notification</a:t>
            </a:r>
            <a:r>
              <a:rPr dirty="0" sz="1300" spc="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system</a:t>
            </a:r>
            <a:r>
              <a:rPr dirty="0" sz="13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using</a:t>
            </a:r>
            <a:r>
              <a:rPr dirty="0" sz="1300" spc="4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0"/>
                </a:solidFill>
                <a:latin typeface="Arial MT"/>
                <a:cs typeface="Arial MT"/>
              </a:rPr>
              <a:t>FastAPI</a:t>
            </a:r>
            <a:r>
              <a:rPr dirty="0" sz="1300" spc="5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-100">
                <a:solidFill>
                  <a:srgbClr val="CAD4E0"/>
                </a:solidFill>
                <a:latin typeface="Arial MT"/>
                <a:cs typeface="Arial MT"/>
              </a:rPr>
              <a:t>·</a:t>
            </a:r>
            <a:r>
              <a:rPr dirty="0" sz="13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RabbitMQ</a:t>
            </a:r>
            <a:r>
              <a:rPr dirty="0" sz="1300" spc="4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-100">
                <a:solidFill>
                  <a:srgbClr val="CAD4E0"/>
                </a:solidFill>
                <a:latin typeface="Arial MT"/>
                <a:cs typeface="Arial MT"/>
              </a:rPr>
              <a:t>·</a:t>
            </a:r>
            <a:r>
              <a:rPr dirty="0" sz="1300" spc="4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0"/>
                </a:solidFill>
                <a:latin typeface="Arial MT"/>
                <a:cs typeface="Arial MT"/>
              </a:rPr>
              <a:t>Celery</a:t>
            </a:r>
            <a:r>
              <a:rPr dirty="0" sz="1300" spc="5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-100">
                <a:solidFill>
                  <a:srgbClr val="CAD4E0"/>
                </a:solidFill>
                <a:latin typeface="Arial MT"/>
                <a:cs typeface="Arial MT"/>
              </a:rPr>
              <a:t>·</a:t>
            </a:r>
            <a:r>
              <a:rPr dirty="0" sz="13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0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48284" y="3657601"/>
            <a:ext cx="1188720" cy="347345"/>
          </a:xfrm>
          <a:custGeom>
            <a:avLst/>
            <a:gdLst/>
            <a:ahLst/>
            <a:cxnLst/>
            <a:rect l="l" t="t" r="r" b="b"/>
            <a:pathLst>
              <a:path w="1188720" h="347345">
                <a:moveTo>
                  <a:pt x="1188351" y="0"/>
                </a:moveTo>
                <a:lnTo>
                  <a:pt x="0" y="0"/>
                </a:lnTo>
                <a:lnTo>
                  <a:pt x="0" y="347040"/>
                </a:lnTo>
                <a:lnTo>
                  <a:pt x="594360" y="347040"/>
                </a:lnTo>
                <a:lnTo>
                  <a:pt x="1188351" y="347040"/>
                </a:lnTo>
                <a:lnTo>
                  <a:pt x="1188351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48284" y="3657601"/>
            <a:ext cx="1188720" cy="34734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765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FastAPI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901520" y="3657601"/>
            <a:ext cx="1188720" cy="347345"/>
          </a:xfrm>
          <a:custGeom>
            <a:avLst/>
            <a:gdLst/>
            <a:ahLst/>
            <a:cxnLst/>
            <a:rect l="l" t="t" r="r" b="b"/>
            <a:pathLst>
              <a:path w="1188720" h="347345">
                <a:moveTo>
                  <a:pt x="1188364" y="0"/>
                </a:moveTo>
                <a:lnTo>
                  <a:pt x="0" y="0"/>
                </a:lnTo>
                <a:lnTo>
                  <a:pt x="0" y="347040"/>
                </a:lnTo>
                <a:lnTo>
                  <a:pt x="594360" y="347040"/>
                </a:lnTo>
                <a:lnTo>
                  <a:pt x="1188364" y="347040"/>
                </a:lnTo>
                <a:lnTo>
                  <a:pt x="1188364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901520" y="3657601"/>
            <a:ext cx="1188720" cy="34734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765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RabbitMQ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254755" y="3657601"/>
            <a:ext cx="1188720" cy="347345"/>
          </a:xfrm>
          <a:custGeom>
            <a:avLst/>
            <a:gdLst/>
            <a:ahLst/>
            <a:cxnLst/>
            <a:rect l="l" t="t" r="r" b="b"/>
            <a:pathLst>
              <a:path w="1188720" h="347345">
                <a:moveTo>
                  <a:pt x="1188364" y="0"/>
                </a:moveTo>
                <a:lnTo>
                  <a:pt x="0" y="0"/>
                </a:lnTo>
                <a:lnTo>
                  <a:pt x="0" y="347040"/>
                </a:lnTo>
                <a:lnTo>
                  <a:pt x="594360" y="347040"/>
                </a:lnTo>
                <a:lnTo>
                  <a:pt x="1188364" y="347040"/>
                </a:lnTo>
                <a:lnTo>
                  <a:pt x="1188364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254755" y="3657601"/>
            <a:ext cx="1188720" cy="34734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394970">
              <a:lnSpc>
                <a:spcPct val="100000"/>
              </a:lnSpc>
              <a:spcBef>
                <a:spcPts val="765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Celery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608360" y="3657601"/>
            <a:ext cx="1188720" cy="347345"/>
          </a:xfrm>
          <a:custGeom>
            <a:avLst/>
            <a:gdLst/>
            <a:ahLst/>
            <a:cxnLst/>
            <a:rect l="l" t="t" r="r" b="b"/>
            <a:pathLst>
              <a:path w="1188720" h="347345">
                <a:moveTo>
                  <a:pt x="1188364" y="0"/>
                </a:moveTo>
                <a:lnTo>
                  <a:pt x="0" y="0"/>
                </a:lnTo>
                <a:lnTo>
                  <a:pt x="0" y="347040"/>
                </a:lnTo>
                <a:lnTo>
                  <a:pt x="594360" y="347040"/>
                </a:lnTo>
                <a:lnTo>
                  <a:pt x="1188364" y="347040"/>
                </a:lnTo>
                <a:lnTo>
                  <a:pt x="1188364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608360" y="3657601"/>
            <a:ext cx="1188720" cy="34734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765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MongoDB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955296" y="3651302"/>
            <a:ext cx="1201420" cy="360045"/>
            <a:chOff x="5955296" y="3651302"/>
            <a:chExt cx="1201420" cy="360045"/>
          </a:xfrm>
        </p:grpSpPr>
        <p:sp>
          <p:nvSpPr>
            <p:cNvPr id="19" name="object 19" descr=""/>
            <p:cNvSpPr/>
            <p:nvPr/>
          </p:nvSpPr>
          <p:spPr>
            <a:xfrm>
              <a:off x="5961596" y="3657602"/>
              <a:ext cx="1188720" cy="347345"/>
            </a:xfrm>
            <a:custGeom>
              <a:avLst/>
              <a:gdLst/>
              <a:ahLst/>
              <a:cxnLst/>
              <a:rect l="l" t="t" r="r" b="b"/>
              <a:pathLst>
                <a:path w="1188720" h="347345">
                  <a:moveTo>
                    <a:pt x="1188364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594360" y="347040"/>
                  </a:lnTo>
                  <a:lnTo>
                    <a:pt x="1188364" y="347040"/>
                  </a:lnTo>
                  <a:lnTo>
                    <a:pt x="1188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961596" y="3657602"/>
              <a:ext cx="1188720" cy="347345"/>
            </a:xfrm>
            <a:custGeom>
              <a:avLst/>
              <a:gdLst/>
              <a:ahLst/>
              <a:cxnLst/>
              <a:rect l="l" t="t" r="r" b="b"/>
              <a:pathLst>
                <a:path w="1188720" h="347345">
                  <a:moveTo>
                    <a:pt x="594360" y="347040"/>
                  </a:moveTo>
                  <a:lnTo>
                    <a:pt x="0" y="347040"/>
                  </a:lnTo>
                  <a:lnTo>
                    <a:pt x="0" y="0"/>
                  </a:lnTo>
                  <a:lnTo>
                    <a:pt x="1188364" y="0"/>
                  </a:lnTo>
                  <a:lnTo>
                    <a:pt x="1188364" y="347040"/>
                  </a:lnTo>
                  <a:lnTo>
                    <a:pt x="594360" y="34704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67895" y="3742108"/>
            <a:ext cx="88391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084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endParaRPr sz="1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Problem</a:t>
            </a:r>
            <a:r>
              <a:rPr dirty="0" spc="-13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339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Why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do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we</a:t>
            </a:r>
            <a:r>
              <a:rPr dirty="0" sz="1200" spc="-2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need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55" i="1">
                <a:solidFill>
                  <a:srgbClr val="63738A"/>
                </a:solidFill>
                <a:latin typeface="Trebuchet MS"/>
                <a:cs typeface="Trebuchet MS"/>
              </a:rPr>
              <a:t>a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 centralised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notification</a:t>
            </a:r>
            <a:r>
              <a:rPr dirty="0" sz="1200" spc="-2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service?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19240" y="1444309"/>
            <a:ext cx="4097020" cy="1490980"/>
            <a:chOff x="219240" y="1444309"/>
            <a:chExt cx="4097020" cy="149098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240" y="1444309"/>
              <a:ext cx="4096804" cy="149040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19684" y="150876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80">
                  <a:moveTo>
                    <a:pt x="3931551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1965960" y="1325524"/>
                  </a:lnTo>
                  <a:lnTo>
                    <a:pt x="3931551" y="132552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9684" y="150876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80">
                  <a:moveTo>
                    <a:pt x="1965960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325524"/>
                  </a:lnTo>
                  <a:lnTo>
                    <a:pt x="1965960" y="1325524"/>
                  </a:lnTo>
                  <a:close/>
                </a:path>
              </a:pathLst>
            </a:custGeom>
            <a:ln w="12599">
              <a:solidFill>
                <a:srgbClr val="FB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0040" y="150876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80">
                  <a:moveTo>
                    <a:pt x="10943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54724" y="1325524"/>
                  </a:lnTo>
                  <a:lnTo>
                    <a:pt x="109435" y="13255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0040" y="150876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80">
                  <a:moveTo>
                    <a:pt x="54724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325524"/>
                  </a:lnTo>
                  <a:lnTo>
                    <a:pt x="54724" y="132552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35775" y="1653021"/>
            <a:ext cx="3809365" cy="78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z="1300" spc="-70">
                <a:solidFill>
                  <a:srgbClr val="0E1629"/>
                </a:solidFill>
                <a:latin typeface="Arial Black"/>
                <a:cs typeface="Arial Black"/>
              </a:rPr>
              <a:t>Fragmented</a:t>
            </a:r>
            <a:r>
              <a:rPr dirty="0" sz="1300" spc="-4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E1629"/>
                </a:solidFill>
                <a:latin typeface="Arial Black"/>
                <a:cs typeface="Arial Black"/>
              </a:rPr>
              <a:t>channels</a:t>
            </a:r>
            <a:endParaRPr sz="1300">
              <a:latin typeface="Arial Black"/>
              <a:cs typeface="Arial Black"/>
            </a:endParaRPr>
          </a:p>
          <a:p>
            <a:pPr marL="85090" marR="479425">
              <a:lnSpc>
                <a:spcPct val="100000"/>
              </a:lnSpc>
              <a:spcBef>
                <a:spcPts val="1785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Email,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63738A"/>
                </a:solidFill>
                <a:latin typeface="Arial MT"/>
                <a:cs typeface="Arial MT"/>
              </a:rPr>
              <a:t>SMS,</a:t>
            </a:r>
            <a:r>
              <a:rPr dirty="0" sz="1100" spc="7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WhatsApp,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Push</a:t>
            </a:r>
            <a:r>
              <a:rPr dirty="0" sz="1100" spc="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handled</a:t>
            </a:r>
            <a:r>
              <a:rPr dirty="0" sz="1100" spc="9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by</a:t>
            </a:r>
            <a:r>
              <a:rPr dirty="0" sz="1100" spc="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separate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codebases</a:t>
            </a:r>
            <a:r>
              <a:rPr dirty="0" sz="1100" spc="1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with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no</a:t>
            </a:r>
            <a:r>
              <a:rPr dirty="0" sz="1100" spc="1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coordination.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19240" y="2953069"/>
            <a:ext cx="4097020" cy="1490980"/>
            <a:chOff x="219240" y="2953069"/>
            <a:chExt cx="4097020" cy="149098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240" y="2953069"/>
              <a:ext cx="4096804" cy="149040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19684" y="301752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3931551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1965960" y="1325524"/>
                  </a:lnTo>
                  <a:lnTo>
                    <a:pt x="3931551" y="132552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9684" y="301752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1965960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325524"/>
                  </a:lnTo>
                  <a:lnTo>
                    <a:pt x="1965960" y="1325524"/>
                  </a:lnTo>
                  <a:close/>
                </a:path>
              </a:pathLst>
            </a:custGeom>
            <a:ln w="12599">
              <a:solidFill>
                <a:srgbClr val="FB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0040" y="301752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79">
                  <a:moveTo>
                    <a:pt x="10943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54724" y="1325524"/>
                  </a:lnTo>
                  <a:lnTo>
                    <a:pt x="109435" y="13255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20040" y="301752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79">
                  <a:moveTo>
                    <a:pt x="54724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325524"/>
                  </a:lnTo>
                  <a:lnTo>
                    <a:pt x="54724" y="132552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35775" y="3161781"/>
            <a:ext cx="3809365" cy="78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z="1300" spc="-55">
                <a:solidFill>
                  <a:srgbClr val="0E1629"/>
                </a:solidFill>
                <a:latin typeface="Arial Black"/>
                <a:cs typeface="Arial Black"/>
              </a:rPr>
              <a:t>No</a:t>
            </a:r>
            <a:r>
              <a:rPr dirty="0" sz="1300" spc="-9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70">
                <a:solidFill>
                  <a:srgbClr val="0E1629"/>
                </a:solidFill>
                <a:latin typeface="Arial Black"/>
                <a:cs typeface="Arial Black"/>
              </a:rPr>
              <a:t>user</a:t>
            </a:r>
            <a:r>
              <a:rPr dirty="0" sz="1300" spc="-95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E1629"/>
                </a:solidFill>
                <a:latin typeface="Arial Black"/>
                <a:cs typeface="Arial Black"/>
              </a:rPr>
              <a:t>control</a:t>
            </a:r>
            <a:endParaRPr sz="1300">
              <a:latin typeface="Arial Black"/>
              <a:cs typeface="Arial Black"/>
            </a:endParaRPr>
          </a:p>
          <a:p>
            <a:pPr marL="85090" marR="231140">
              <a:lnSpc>
                <a:spcPct val="100000"/>
              </a:lnSpc>
              <a:spcBef>
                <a:spcPts val="1785"/>
              </a:spcBef>
            </a:pP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Users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cannot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set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preferences,</a:t>
            </a:r>
            <a:r>
              <a:rPr dirty="0" sz="1100" spc="7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opt-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out</a:t>
            </a:r>
            <a:r>
              <a:rPr dirty="0" sz="1100" spc="8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of</a:t>
            </a:r>
            <a:r>
              <a:rPr dirty="0" sz="1100" spc="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channels,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or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configure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DND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windows.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608360" y="1444309"/>
            <a:ext cx="4097020" cy="1490980"/>
            <a:chOff x="4608360" y="1444309"/>
            <a:chExt cx="4097020" cy="1490980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360" y="1444309"/>
              <a:ext cx="4096804" cy="149040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708804" y="150876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80">
                  <a:moveTo>
                    <a:pt x="3931551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1965960" y="1325524"/>
                  </a:lnTo>
                  <a:lnTo>
                    <a:pt x="3931551" y="132552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708804" y="150876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80">
                  <a:moveTo>
                    <a:pt x="1965960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325524"/>
                  </a:lnTo>
                  <a:lnTo>
                    <a:pt x="1965960" y="1325524"/>
                  </a:lnTo>
                  <a:close/>
                </a:path>
              </a:pathLst>
            </a:custGeom>
            <a:ln w="12599">
              <a:solidFill>
                <a:srgbClr val="FB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09160" y="150876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80">
                  <a:moveTo>
                    <a:pt x="10943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54724" y="1325524"/>
                  </a:lnTo>
                  <a:lnTo>
                    <a:pt x="109435" y="13255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709160" y="150876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80">
                  <a:moveTo>
                    <a:pt x="54724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325524"/>
                  </a:lnTo>
                  <a:lnTo>
                    <a:pt x="54724" y="132552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824895" y="1653021"/>
            <a:ext cx="3809365" cy="78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z="1300" spc="-55">
                <a:solidFill>
                  <a:srgbClr val="0E1629"/>
                </a:solidFill>
                <a:latin typeface="Arial Black"/>
                <a:cs typeface="Arial Black"/>
              </a:rPr>
              <a:t>No</a:t>
            </a:r>
            <a:r>
              <a:rPr dirty="0" sz="1300" spc="-8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E1629"/>
                </a:solidFill>
                <a:latin typeface="Arial Black"/>
                <a:cs typeface="Arial Black"/>
              </a:rPr>
              <a:t>retry</a:t>
            </a:r>
            <a:r>
              <a:rPr dirty="0" sz="1300" spc="-9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0E1629"/>
                </a:solidFill>
                <a:latin typeface="Arial Black"/>
                <a:cs typeface="Arial Black"/>
              </a:rPr>
              <a:t>logic</a:t>
            </a:r>
            <a:endParaRPr sz="1300">
              <a:latin typeface="Arial Black"/>
              <a:cs typeface="Arial Black"/>
            </a:endParaRPr>
          </a:p>
          <a:p>
            <a:pPr marL="85090" marR="265430">
              <a:lnSpc>
                <a:spcPct val="100000"/>
              </a:lnSpc>
              <a:spcBef>
                <a:spcPts val="1785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Failed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deliveries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are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silently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dropped 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with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no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backoff 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or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dead-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letter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handling.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608360" y="2953069"/>
            <a:ext cx="4097020" cy="1490980"/>
            <a:chOff x="4608360" y="2953069"/>
            <a:chExt cx="4097020" cy="1490980"/>
          </a:xfrm>
        </p:grpSpPr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360" y="2953069"/>
              <a:ext cx="4096804" cy="149040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708804" y="301752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3931551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1965960" y="1325524"/>
                  </a:lnTo>
                  <a:lnTo>
                    <a:pt x="3931551" y="132552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708804" y="3017522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1965960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325524"/>
                  </a:lnTo>
                  <a:lnTo>
                    <a:pt x="1965960" y="1325524"/>
                  </a:lnTo>
                  <a:close/>
                </a:path>
              </a:pathLst>
            </a:custGeom>
            <a:ln w="12599">
              <a:solidFill>
                <a:srgbClr val="FB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709160" y="301752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79">
                  <a:moveTo>
                    <a:pt x="10943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54724" y="1325524"/>
                  </a:lnTo>
                  <a:lnTo>
                    <a:pt x="109435" y="13255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709160" y="3017522"/>
              <a:ext cx="109855" cy="1325880"/>
            </a:xfrm>
            <a:custGeom>
              <a:avLst/>
              <a:gdLst/>
              <a:ahLst/>
              <a:cxnLst/>
              <a:rect l="l" t="t" r="r" b="b"/>
              <a:pathLst>
                <a:path w="109854" h="1325879">
                  <a:moveTo>
                    <a:pt x="54724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325524"/>
                  </a:lnTo>
                  <a:lnTo>
                    <a:pt x="54724" y="132552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824895" y="3161781"/>
            <a:ext cx="3809365" cy="78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z="1300" spc="-55">
                <a:solidFill>
                  <a:srgbClr val="0E1629"/>
                </a:solidFill>
                <a:latin typeface="Arial Black"/>
                <a:cs typeface="Arial Black"/>
              </a:rPr>
              <a:t>No</a:t>
            </a:r>
            <a:r>
              <a:rPr dirty="0" sz="1300" spc="-9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45">
                <a:solidFill>
                  <a:srgbClr val="0E1629"/>
                </a:solidFill>
                <a:latin typeface="Arial Black"/>
                <a:cs typeface="Arial Black"/>
              </a:rPr>
              <a:t>audit</a:t>
            </a:r>
            <a:r>
              <a:rPr dirty="0" sz="1300" spc="-85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0E1629"/>
                </a:solidFill>
                <a:latin typeface="Arial Black"/>
                <a:cs typeface="Arial Black"/>
              </a:rPr>
              <a:t>trail</a:t>
            </a:r>
            <a:endParaRPr sz="1300">
              <a:latin typeface="Arial Black"/>
              <a:cs typeface="Arial Black"/>
            </a:endParaRPr>
          </a:p>
          <a:p>
            <a:pPr marL="85090" marR="158750">
              <a:lnSpc>
                <a:spcPct val="100000"/>
              </a:lnSpc>
              <a:spcBef>
                <a:spcPts val="1785"/>
              </a:spcBef>
            </a:pP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Zero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visibility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into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delivery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status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—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sent,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failed,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or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still queued.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System</a:t>
            </a:r>
            <a:r>
              <a:rPr dirty="0" spc="-135"/>
              <a:t> </a:t>
            </a:r>
            <a:r>
              <a:rPr dirty="0" spc="-4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3686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End-</a:t>
            </a:r>
            <a:r>
              <a:rPr dirty="0" sz="1200" spc="-60" i="1">
                <a:solidFill>
                  <a:srgbClr val="63738A"/>
                </a:solidFill>
                <a:latin typeface="Trebuchet MS"/>
                <a:cs typeface="Trebuchet MS"/>
              </a:rPr>
              <a:t>to-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end</a:t>
            </a:r>
            <a:r>
              <a:rPr dirty="0" sz="12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65" i="1">
                <a:solidFill>
                  <a:srgbClr val="63738A"/>
                </a:solidFill>
                <a:latin typeface="Trebuchet MS"/>
                <a:cs typeface="Trebuchet MS"/>
              </a:rPr>
              <a:t>flow</a:t>
            </a:r>
            <a:r>
              <a:rPr dirty="0" sz="12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20" i="1">
                <a:solidFill>
                  <a:srgbClr val="63738A"/>
                </a:solidFill>
                <a:latin typeface="Trebuchet MS"/>
                <a:cs typeface="Trebuchet MS"/>
              </a:rPr>
              <a:t>from</a:t>
            </a:r>
            <a:r>
              <a:rPr dirty="0" sz="1200" spc="-45" i="1">
                <a:solidFill>
                  <a:srgbClr val="63738A"/>
                </a:solidFill>
                <a:latin typeface="Trebuchet MS"/>
                <a:cs typeface="Trebuchet MS"/>
              </a:rPr>
              <a:t> event</a:t>
            </a:r>
            <a:r>
              <a:rPr dirty="0" sz="12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trigger</a:t>
            </a:r>
            <a:r>
              <a:rPr dirty="0" sz="1200" spc="-4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to</a:t>
            </a:r>
            <a:r>
              <a:rPr dirty="0" sz="1200" spc="-4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provider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delivery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228600" y="1919886"/>
            <a:ext cx="1325880" cy="914400"/>
          </a:xfrm>
          <a:custGeom>
            <a:avLst/>
            <a:gdLst/>
            <a:ahLst/>
            <a:cxnLst/>
            <a:rect l="l" t="t" r="r" b="b"/>
            <a:pathLst>
              <a:path w="1325880" h="914400">
                <a:moveTo>
                  <a:pt x="1325524" y="0"/>
                </a:moveTo>
                <a:lnTo>
                  <a:pt x="0" y="0"/>
                </a:lnTo>
                <a:lnTo>
                  <a:pt x="0" y="914031"/>
                </a:lnTo>
                <a:lnTo>
                  <a:pt x="662762" y="914031"/>
                </a:lnTo>
                <a:lnTo>
                  <a:pt x="1325524" y="914031"/>
                </a:lnTo>
                <a:lnTo>
                  <a:pt x="1325524" y="0"/>
                </a:lnTo>
                <a:close/>
              </a:path>
            </a:pathLst>
          </a:custGeom>
          <a:solidFill>
            <a:srgbClr val="19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28600" y="1919886"/>
            <a:ext cx="1325880" cy="914400"/>
          </a:xfrm>
          <a:prstGeom prst="rect">
            <a:avLst/>
          </a:prstGeom>
          <a:ln w="12599">
            <a:solidFill>
              <a:srgbClr val="192A4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Times New Roman"/>
              <a:cs typeface="Times New Roman"/>
            </a:endParaRPr>
          </a:p>
          <a:p>
            <a:pPr algn="ctr" marL="476884" marR="469900">
              <a:lnSpc>
                <a:spcPct val="100000"/>
              </a:lnSpc>
            </a:pPr>
            <a:r>
              <a:rPr dirty="0" sz="1000" spc="-65">
                <a:solidFill>
                  <a:srgbClr val="FFFFFF"/>
                </a:solidFill>
                <a:latin typeface="Arial Black"/>
                <a:cs typeface="Arial Black"/>
              </a:rPr>
              <a:t>Client </a:t>
            </a:r>
            <a:r>
              <a:rPr dirty="0" sz="1000" spc="-25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685289" y="1913536"/>
            <a:ext cx="1338580" cy="927100"/>
            <a:chOff x="1685289" y="1913536"/>
            <a:chExt cx="1338580" cy="927100"/>
          </a:xfrm>
        </p:grpSpPr>
        <p:sp>
          <p:nvSpPr>
            <p:cNvPr id="10" name="object 10" descr=""/>
            <p:cNvSpPr/>
            <p:nvPr/>
          </p:nvSpPr>
          <p:spPr>
            <a:xfrm>
              <a:off x="169163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80" h="914400">
                  <a:moveTo>
                    <a:pt x="1325524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662762" y="914031"/>
                  </a:lnTo>
                  <a:lnTo>
                    <a:pt x="1325524" y="91403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9163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80" h="914400">
                  <a:moveTo>
                    <a:pt x="662762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1325524" y="0"/>
                  </a:lnTo>
                  <a:lnTo>
                    <a:pt x="1325524" y="914031"/>
                  </a:lnTo>
                  <a:lnTo>
                    <a:pt x="662762" y="914031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102294" y="2211745"/>
            <a:ext cx="504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solidFill>
                  <a:srgbClr val="FFFFFF"/>
                </a:solidFill>
                <a:latin typeface="Arial Black"/>
                <a:cs typeface="Arial Black"/>
              </a:rPr>
              <a:t>FastAPI</a:t>
            </a:r>
            <a:endParaRPr sz="10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/notify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148329" y="1913536"/>
            <a:ext cx="1338580" cy="927100"/>
            <a:chOff x="3148329" y="1913536"/>
            <a:chExt cx="1338580" cy="927100"/>
          </a:xfrm>
        </p:grpSpPr>
        <p:sp>
          <p:nvSpPr>
            <p:cNvPr id="14" name="object 14" descr=""/>
            <p:cNvSpPr/>
            <p:nvPr/>
          </p:nvSpPr>
          <p:spPr>
            <a:xfrm>
              <a:off x="315467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1325524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662762" y="914031"/>
                  </a:lnTo>
                  <a:lnTo>
                    <a:pt x="1325524" y="91403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15467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662762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1325524" y="0"/>
                  </a:lnTo>
                  <a:lnTo>
                    <a:pt x="1325524" y="914031"/>
                  </a:lnTo>
                  <a:lnTo>
                    <a:pt x="662762" y="914031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495865" y="2211745"/>
            <a:ext cx="642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Arial Black"/>
                <a:cs typeface="Arial Black"/>
              </a:rPr>
              <a:t>MongoDB </a:t>
            </a:r>
            <a:r>
              <a:rPr dirty="0" sz="1000" spc="-20">
                <a:solidFill>
                  <a:srgbClr val="FFFFFF"/>
                </a:solidFill>
                <a:latin typeface="Arial Black"/>
                <a:cs typeface="Arial Black"/>
              </a:rPr>
              <a:t>Jobs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611370" y="1913536"/>
            <a:ext cx="1338580" cy="927100"/>
            <a:chOff x="4611370" y="1913536"/>
            <a:chExt cx="1338580" cy="927100"/>
          </a:xfrm>
        </p:grpSpPr>
        <p:sp>
          <p:nvSpPr>
            <p:cNvPr id="18" name="object 18" descr=""/>
            <p:cNvSpPr/>
            <p:nvPr/>
          </p:nvSpPr>
          <p:spPr>
            <a:xfrm>
              <a:off x="4617720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1325524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662762" y="914031"/>
                  </a:lnTo>
                  <a:lnTo>
                    <a:pt x="1325524" y="91403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17720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662762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1325524" y="0"/>
                  </a:lnTo>
                  <a:lnTo>
                    <a:pt x="1325524" y="914031"/>
                  </a:lnTo>
                  <a:lnTo>
                    <a:pt x="662762" y="914031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951336" y="2211745"/>
            <a:ext cx="6584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 marR="5080" indent="-7747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Arial Black"/>
                <a:cs typeface="Arial Black"/>
              </a:rPr>
              <a:t>RabbitMQ </a:t>
            </a: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Queues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74409" y="1913536"/>
            <a:ext cx="1338580" cy="927100"/>
            <a:chOff x="6074409" y="1913536"/>
            <a:chExt cx="1338580" cy="927100"/>
          </a:xfrm>
        </p:grpSpPr>
        <p:sp>
          <p:nvSpPr>
            <p:cNvPr id="22" name="object 22" descr=""/>
            <p:cNvSpPr/>
            <p:nvPr/>
          </p:nvSpPr>
          <p:spPr>
            <a:xfrm>
              <a:off x="608075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1325524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662762" y="914031"/>
                  </a:lnTo>
                  <a:lnTo>
                    <a:pt x="1325524" y="91403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0268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80759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662762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1325524" y="0"/>
                  </a:lnTo>
                  <a:lnTo>
                    <a:pt x="1325524" y="914031"/>
                  </a:lnTo>
                  <a:lnTo>
                    <a:pt x="662762" y="914031"/>
                  </a:lnTo>
                  <a:close/>
                </a:path>
              </a:pathLst>
            </a:custGeom>
            <a:ln w="12599">
              <a:solidFill>
                <a:srgbClr val="0268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466217" y="2211745"/>
            <a:ext cx="553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Celery </a:t>
            </a:r>
            <a:r>
              <a:rPr dirty="0" sz="1000" spc="-60">
                <a:solidFill>
                  <a:srgbClr val="FFFFFF"/>
                </a:solidFill>
                <a:latin typeface="Arial Black"/>
                <a:cs typeface="Arial Black"/>
              </a:rPr>
              <a:t>Workers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537450" y="1913536"/>
            <a:ext cx="1338580" cy="927100"/>
            <a:chOff x="7537450" y="1913536"/>
            <a:chExt cx="1338580" cy="927100"/>
          </a:xfrm>
        </p:grpSpPr>
        <p:sp>
          <p:nvSpPr>
            <p:cNvPr id="26" name="object 26" descr=""/>
            <p:cNvSpPr/>
            <p:nvPr/>
          </p:nvSpPr>
          <p:spPr>
            <a:xfrm>
              <a:off x="7543800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1325524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662762" y="914031"/>
                  </a:lnTo>
                  <a:lnTo>
                    <a:pt x="1325524" y="91403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543800" y="1919886"/>
              <a:ext cx="1325880" cy="914400"/>
            </a:xfrm>
            <a:custGeom>
              <a:avLst/>
              <a:gdLst/>
              <a:ahLst/>
              <a:cxnLst/>
              <a:rect l="l" t="t" r="r" b="b"/>
              <a:pathLst>
                <a:path w="1325879" h="914400">
                  <a:moveTo>
                    <a:pt x="662762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1325524" y="0"/>
                  </a:lnTo>
                  <a:lnTo>
                    <a:pt x="1325524" y="914031"/>
                  </a:lnTo>
                  <a:lnTo>
                    <a:pt x="662762" y="914031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766901" y="2211745"/>
            <a:ext cx="878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Black"/>
                <a:cs typeface="Arial Black"/>
              </a:rPr>
              <a:t>Providers </a:t>
            </a:r>
            <a:r>
              <a:rPr dirty="0" sz="1000" spc="-75">
                <a:solidFill>
                  <a:srgbClr val="FFFFFF"/>
                </a:solidFill>
                <a:latin typeface="Arial Black"/>
                <a:cs typeface="Arial Black"/>
              </a:rPr>
              <a:t>(Email/SMS…)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547774" y="2343368"/>
            <a:ext cx="6230620" cy="1359535"/>
            <a:chOff x="1547774" y="2343368"/>
            <a:chExt cx="6230620" cy="1359535"/>
          </a:xfrm>
        </p:grpSpPr>
        <p:sp>
          <p:nvSpPr>
            <p:cNvPr id="30" name="object 30" descr=""/>
            <p:cNvSpPr/>
            <p:nvPr/>
          </p:nvSpPr>
          <p:spPr>
            <a:xfrm>
              <a:off x="155412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36539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82879" y="54368"/>
                  </a:lnTo>
                  <a:lnTo>
                    <a:pt x="365391" y="54368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637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5412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182879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54368"/>
                  </a:lnTo>
                  <a:lnTo>
                    <a:pt x="182879" y="54368"/>
                  </a:lnTo>
                  <a:close/>
                </a:path>
              </a:pathLst>
            </a:custGeom>
            <a:ln w="1259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01716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36539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82880" y="54368"/>
                  </a:lnTo>
                  <a:lnTo>
                    <a:pt x="365391" y="54368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637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01716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182880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54368"/>
                  </a:lnTo>
                  <a:lnTo>
                    <a:pt x="182880" y="54368"/>
                  </a:lnTo>
                  <a:close/>
                </a:path>
              </a:pathLst>
            </a:custGeom>
            <a:ln w="1259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48020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36539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82880" y="54368"/>
                  </a:lnTo>
                  <a:lnTo>
                    <a:pt x="365391" y="54368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637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48020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182880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54368"/>
                  </a:lnTo>
                  <a:lnTo>
                    <a:pt x="182880" y="54368"/>
                  </a:lnTo>
                  <a:close/>
                </a:path>
              </a:pathLst>
            </a:custGeom>
            <a:ln w="1259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4324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36539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82880" y="54368"/>
                  </a:lnTo>
                  <a:lnTo>
                    <a:pt x="365391" y="54368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637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94324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60" h="54610">
                  <a:moveTo>
                    <a:pt x="182880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54368"/>
                  </a:lnTo>
                  <a:lnTo>
                    <a:pt x="182880" y="54368"/>
                  </a:lnTo>
                  <a:close/>
                </a:path>
              </a:pathLst>
            </a:custGeom>
            <a:ln w="1259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40628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59" h="54610">
                  <a:moveTo>
                    <a:pt x="36539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82879" y="54368"/>
                  </a:lnTo>
                  <a:lnTo>
                    <a:pt x="365391" y="54368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637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406284" y="2349718"/>
              <a:ext cx="365760" cy="54610"/>
            </a:xfrm>
            <a:custGeom>
              <a:avLst/>
              <a:gdLst/>
              <a:ahLst/>
              <a:cxnLst/>
              <a:rect l="l" t="t" r="r" b="b"/>
              <a:pathLst>
                <a:path w="365759" h="54610">
                  <a:moveTo>
                    <a:pt x="182879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54368"/>
                  </a:lnTo>
                  <a:lnTo>
                    <a:pt x="182879" y="54368"/>
                  </a:lnTo>
                  <a:close/>
                </a:path>
              </a:pathLst>
            </a:custGeom>
            <a:ln w="1259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91640" y="3062886"/>
              <a:ext cx="1325880" cy="640080"/>
            </a:xfrm>
            <a:custGeom>
              <a:avLst/>
              <a:gdLst/>
              <a:ahLst/>
              <a:cxnLst/>
              <a:rect l="l" t="t" r="r" b="b"/>
              <a:pathLst>
                <a:path w="1325880" h="640079">
                  <a:moveTo>
                    <a:pt x="1325524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662762" y="639711"/>
                  </a:lnTo>
                  <a:lnTo>
                    <a:pt x="1325524" y="639711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DA26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691639" y="3062886"/>
            <a:ext cx="1325880" cy="640080"/>
          </a:xfrm>
          <a:prstGeom prst="rect">
            <a:avLst/>
          </a:prstGeom>
          <a:ln w="12599">
            <a:solidFill>
              <a:srgbClr val="DA2676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900">
              <a:latin typeface="Times New Roman"/>
              <a:cs typeface="Times New Roman"/>
            </a:endParaRPr>
          </a:p>
          <a:p>
            <a:pPr marL="474345" marR="364490" indent="-103505">
              <a:lnSpc>
                <a:spcPct val="100000"/>
              </a:lnSpc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User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Prefs </a:t>
            </a:r>
            <a:r>
              <a:rPr dirty="0" sz="900" spc="-135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DND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293022" y="2828342"/>
            <a:ext cx="67310" cy="241300"/>
            <a:chOff x="2293022" y="2828342"/>
            <a:chExt cx="67310" cy="241300"/>
          </a:xfrm>
        </p:grpSpPr>
        <p:sp>
          <p:nvSpPr>
            <p:cNvPr id="43" name="object 43" descr=""/>
            <p:cNvSpPr/>
            <p:nvPr/>
          </p:nvSpPr>
          <p:spPr>
            <a:xfrm>
              <a:off x="2299322" y="2834641"/>
              <a:ext cx="54610" cy="228600"/>
            </a:xfrm>
            <a:custGeom>
              <a:avLst/>
              <a:gdLst/>
              <a:ahLst/>
              <a:cxnLst/>
              <a:rect l="l" t="t" r="r" b="b"/>
              <a:pathLst>
                <a:path w="54610" h="228600">
                  <a:moveTo>
                    <a:pt x="54356" y="0"/>
                  </a:moveTo>
                  <a:lnTo>
                    <a:pt x="0" y="0"/>
                  </a:lnTo>
                  <a:lnTo>
                    <a:pt x="0" y="228244"/>
                  </a:lnTo>
                  <a:lnTo>
                    <a:pt x="27355" y="228244"/>
                  </a:lnTo>
                  <a:lnTo>
                    <a:pt x="54356" y="22824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DA2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299322" y="2834641"/>
              <a:ext cx="54610" cy="228600"/>
            </a:xfrm>
            <a:custGeom>
              <a:avLst/>
              <a:gdLst/>
              <a:ahLst/>
              <a:cxnLst/>
              <a:rect l="l" t="t" r="r" b="b"/>
              <a:pathLst>
                <a:path w="54610" h="228600">
                  <a:moveTo>
                    <a:pt x="27355" y="228244"/>
                  </a:moveTo>
                  <a:lnTo>
                    <a:pt x="0" y="22824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228244"/>
                  </a:lnTo>
                  <a:lnTo>
                    <a:pt x="27355" y="228244"/>
                  </a:lnTo>
                  <a:close/>
                </a:path>
              </a:pathLst>
            </a:custGeom>
            <a:ln w="12599">
              <a:solidFill>
                <a:srgbClr val="DA26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2508745" y="3911310"/>
            <a:ext cx="41243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63738A"/>
                </a:solidFill>
                <a:latin typeface="Trebuchet MS"/>
                <a:cs typeface="Trebuchet MS"/>
              </a:rPr>
              <a:t>User</a:t>
            </a:r>
            <a:r>
              <a:rPr dirty="0" sz="10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35" i="1">
                <a:solidFill>
                  <a:srgbClr val="63738A"/>
                </a:solidFill>
                <a:latin typeface="Trebuchet MS"/>
                <a:cs typeface="Trebuchet MS"/>
              </a:rPr>
              <a:t>preferences</a:t>
            </a:r>
            <a:r>
              <a:rPr dirty="0" sz="10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63738A"/>
                </a:solidFill>
                <a:latin typeface="Trebuchet MS"/>
                <a:cs typeface="Trebuchet MS"/>
              </a:rPr>
              <a:t>and</a:t>
            </a:r>
            <a:r>
              <a:rPr dirty="0" sz="10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50" i="1">
                <a:solidFill>
                  <a:srgbClr val="63738A"/>
                </a:solidFill>
                <a:latin typeface="Trebuchet MS"/>
                <a:cs typeface="Trebuchet MS"/>
              </a:rPr>
              <a:t>DND</a:t>
            </a:r>
            <a:r>
              <a:rPr dirty="0" sz="1000" spc="-3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63738A"/>
                </a:solidFill>
                <a:latin typeface="Trebuchet MS"/>
                <a:cs typeface="Trebuchet MS"/>
              </a:rPr>
              <a:t>windows</a:t>
            </a:r>
            <a:r>
              <a:rPr dirty="0" sz="10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63738A"/>
                </a:solidFill>
                <a:latin typeface="Trebuchet MS"/>
                <a:cs typeface="Trebuchet MS"/>
              </a:rPr>
              <a:t>are</a:t>
            </a:r>
            <a:r>
              <a:rPr dirty="0" sz="10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25" i="1">
                <a:solidFill>
                  <a:srgbClr val="63738A"/>
                </a:solidFill>
                <a:latin typeface="Trebuchet MS"/>
                <a:cs typeface="Trebuchet MS"/>
              </a:rPr>
              <a:t>checked </a:t>
            </a:r>
            <a:r>
              <a:rPr dirty="0" sz="1000" spc="-35" i="1">
                <a:solidFill>
                  <a:srgbClr val="63738A"/>
                </a:solidFill>
                <a:latin typeface="Trebuchet MS"/>
                <a:cs typeface="Trebuchet MS"/>
              </a:rPr>
              <a:t>before</a:t>
            </a:r>
            <a:r>
              <a:rPr dirty="0" sz="10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63738A"/>
                </a:solidFill>
                <a:latin typeface="Trebuchet MS"/>
                <a:cs typeface="Trebuchet MS"/>
              </a:rPr>
              <a:t>any</a:t>
            </a:r>
            <a:r>
              <a:rPr dirty="0" sz="1000" spc="-2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30" i="1">
                <a:solidFill>
                  <a:srgbClr val="63738A"/>
                </a:solidFill>
                <a:latin typeface="Trebuchet MS"/>
                <a:cs typeface="Trebuchet MS"/>
              </a:rPr>
              <a:t>job</a:t>
            </a:r>
            <a:r>
              <a:rPr dirty="0" sz="1000" spc="-4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63738A"/>
                </a:solidFill>
                <a:latin typeface="Trebuchet MS"/>
                <a:cs typeface="Trebuchet MS"/>
              </a:rPr>
              <a:t>is</a:t>
            </a:r>
            <a:r>
              <a:rPr dirty="0" sz="10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63738A"/>
                </a:solidFill>
                <a:latin typeface="Trebuchet MS"/>
                <a:cs typeface="Trebuchet MS"/>
              </a:rPr>
              <a:t>queued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6" name="object 4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FastAPI</a:t>
            </a:r>
            <a:r>
              <a:rPr dirty="0" spc="-150"/>
              <a:t> </a:t>
            </a:r>
            <a:r>
              <a:rPr dirty="0"/>
              <a:t>—</a:t>
            </a:r>
            <a:r>
              <a:rPr dirty="0" spc="-160"/>
              <a:t> </a:t>
            </a:r>
            <a:r>
              <a:rPr dirty="0" spc="-10"/>
              <a:t>/notify</a:t>
            </a:r>
            <a:r>
              <a:rPr dirty="0" spc="-160"/>
              <a:t> </a:t>
            </a:r>
            <a:r>
              <a:rPr dirty="0" spc="-10"/>
              <a:t>Endpoint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1645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Core orchestration</a:t>
            </a:r>
            <a:r>
              <a:rPr dirty="0" sz="1200" spc="-20" i="1">
                <a:solidFill>
                  <a:srgbClr val="63738A"/>
                </a:solidFill>
                <a:latin typeface="Trebuchet MS"/>
                <a:cs typeface="Trebuchet MS"/>
              </a:rPr>
              <a:t> layer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52780" y="1556171"/>
            <a:ext cx="1751964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87985" algn="l"/>
              </a:tabLst>
            </a:pPr>
            <a:r>
              <a:rPr dirty="0" sz="13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13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2314" sz="1800" spc="-135">
                <a:solidFill>
                  <a:srgbClr val="0E1629"/>
                </a:solidFill>
                <a:latin typeface="Arial Black"/>
                <a:cs typeface="Arial Black"/>
              </a:rPr>
              <a:t>Store</a:t>
            </a:r>
            <a:r>
              <a:rPr dirty="0" baseline="2314" sz="1800" spc="-104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baseline="2314" sz="1800" spc="-112">
                <a:solidFill>
                  <a:srgbClr val="0E1629"/>
                </a:solidFill>
                <a:latin typeface="Arial Black"/>
                <a:cs typeface="Arial Black"/>
              </a:rPr>
              <a:t>raw</a:t>
            </a:r>
            <a:r>
              <a:rPr dirty="0" baseline="2314" sz="1800" spc="-97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baseline="2314" sz="1800" spc="-82">
                <a:solidFill>
                  <a:srgbClr val="0E1629"/>
                </a:solidFill>
                <a:latin typeface="Arial Black"/>
                <a:cs typeface="Arial Black"/>
              </a:rPr>
              <a:t>request</a:t>
            </a:r>
            <a:endParaRPr baseline="2314" sz="18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33064" y="1558342"/>
            <a:ext cx="47396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0">
                <a:solidFill>
                  <a:srgbClr val="63738A"/>
                </a:solidFill>
                <a:latin typeface="Arial MT"/>
                <a:cs typeface="Arial MT"/>
              </a:rPr>
              <a:t>Saves</a:t>
            </a:r>
            <a:r>
              <a:rPr dirty="0" sz="1100" spc="17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incoming</a:t>
            </a:r>
            <a:r>
              <a:rPr dirty="0" sz="1100" spc="19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payload</a:t>
            </a:r>
            <a:r>
              <a:rPr dirty="0" sz="1100" spc="1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75">
                <a:solidFill>
                  <a:srgbClr val="63738A"/>
                </a:solidFill>
                <a:latin typeface="Arial MT"/>
                <a:cs typeface="Arial MT"/>
              </a:rPr>
              <a:t>to</a:t>
            </a:r>
            <a:r>
              <a:rPr dirty="0" sz="1100" spc="1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notification_requests</a:t>
            </a:r>
            <a:r>
              <a:rPr dirty="0" sz="1100" spc="1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collection</a:t>
            </a:r>
            <a:r>
              <a:rPr dirty="0" sz="1100" spc="1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immediately.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2573" y="1840498"/>
            <a:ext cx="49530" cy="250190"/>
            <a:chOff x="482573" y="1840498"/>
            <a:chExt cx="49530" cy="250190"/>
          </a:xfrm>
        </p:grpSpPr>
        <p:sp>
          <p:nvSpPr>
            <p:cNvPr id="10" name="object 10" descr=""/>
            <p:cNvSpPr/>
            <p:nvPr/>
          </p:nvSpPr>
          <p:spPr>
            <a:xfrm>
              <a:off x="488873" y="1846798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36360" y="0"/>
                  </a:moveTo>
                  <a:lnTo>
                    <a:pt x="0" y="0"/>
                  </a:lnTo>
                  <a:lnTo>
                    <a:pt x="0" y="237248"/>
                  </a:lnTo>
                  <a:lnTo>
                    <a:pt x="18364" y="237248"/>
                  </a:lnTo>
                  <a:lnTo>
                    <a:pt x="36360" y="237248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8873" y="1846798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18364" y="237248"/>
                  </a:moveTo>
                  <a:lnTo>
                    <a:pt x="0" y="237248"/>
                  </a:lnTo>
                  <a:lnTo>
                    <a:pt x="0" y="0"/>
                  </a:lnTo>
                  <a:lnTo>
                    <a:pt x="36360" y="0"/>
                  </a:lnTo>
                  <a:lnTo>
                    <a:pt x="36360" y="237248"/>
                  </a:lnTo>
                  <a:lnTo>
                    <a:pt x="18364" y="237248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52780" y="2201661"/>
            <a:ext cx="120014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8255" y="2209217"/>
            <a:ext cx="1329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solidFill>
                  <a:srgbClr val="0E1629"/>
                </a:solidFill>
                <a:latin typeface="Arial Black"/>
                <a:cs typeface="Arial Black"/>
              </a:rPr>
              <a:t>Resolve</a:t>
            </a:r>
            <a:r>
              <a:rPr dirty="0" sz="1200" spc="-60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0E1629"/>
                </a:solidFill>
                <a:latin typeface="Arial Black"/>
                <a:cs typeface="Arial Black"/>
              </a:rPr>
              <a:t>channels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33064" y="2216786"/>
            <a:ext cx="36671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DND check</a:t>
            </a:r>
            <a:r>
              <a:rPr dirty="0" sz="1100" spc="2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+</a:t>
            </a:r>
            <a:r>
              <a:rPr dirty="0" sz="1100" spc="1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user</a:t>
            </a:r>
            <a:r>
              <a:rPr dirty="0" sz="1100" spc="2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preference</a:t>
            </a:r>
            <a:r>
              <a:rPr dirty="0" sz="1100" spc="2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intersection</a:t>
            </a:r>
            <a:r>
              <a:rPr dirty="0" sz="1100" spc="2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per</a:t>
            </a:r>
            <a:r>
              <a:rPr dirty="0" sz="1100" spc="2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recipient.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82573" y="2498942"/>
            <a:ext cx="49530" cy="250190"/>
            <a:chOff x="482573" y="2498942"/>
            <a:chExt cx="49530" cy="250190"/>
          </a:xfrm>
        </p:grpSpPr>
        <p:sp>
          <p:nvSpPr>
            <p:cNvPr id="16" name="object 16" descr=""/>
            <p:cNvSpPr/>
            <p:nvPr/>
          </p:nvSpPr>
          <p:spPr>
            <a:xfrm>
              <a:off x="488873" y="2505242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36360" y="0"/>
                  </a:moveTo>
                  <a:lnTo>
                    <a:pt x="0" y="0"/>
                  </a:lnTo>
                  <a:lnTo>
                    <a:pt x="0" y="237236"/>
                  </a:lnTo>
                  <a:lnTo>
                    <a:pt x="18364" y="237236"/>
                  </a:lnTo>
                  <a:lnTo>
                    <a:pt x="36360" y="237236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8873" y="2505242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18364" y="237236"/>
                  </a:moveTo>
                  <a:lnTo>
                    <a:pt x="0" y="237236"/>
                  </a:lnTo>
                  <a:lnTo>
                    <a:pt x="0" y="0"/>
                  </a:lnTo>
                  <a:lnTo>
                    <a:pt x="36360" y="0"/>
                  </a:lnTo>
                  <a:lnTo>
                    <a:pt x="36360" y="237236"/>
                  </a:lnTo>
                  <a:lnTo>
                    <a:pt x="18364" y="237236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52780" y="2860105"/>
            <a:ext cx="120014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28255" y="2867661"/>
            <a:ext cx="1186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0">
                <a:solidFill>
                  <a:srgbClr val="0E1629"/>
                </a:solidFill>
                <a:latin typeface="Arial Black"/>
                <a:cs typeface="Arial Black"/>
              </a:rPr>
              <a:t>Create</a:t>
            </a:r>
            <a:r>
              <a:rPr dirty="0" sz="1200" spc="-60">
                <a:solidFill>
                  <a:srgbClr val="0E1629"/>
                </a:solidFill>
                <a:latin typeface="Arial Black"/>
                <a:cs typeface="Arial Black"/>
              </a:rPr>
              <a:t> job</a:t>
            </a:r>
            <a:r>
              <a:rPr dirty="0" sz="1200" spc="-65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200" spc="-85">
                <a:solidFill>
                  <a:srgbClr val="0E1629"/>
                </a:solidFill>
                <a:latin typeface="Arial Black"/>
                <a:cs typeface="Arial Black"/>
              </a:rPr>
              <a:t>docs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33064" y="2875231"/>
            <a:ext cx="401510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One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MongoDB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job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per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(recipient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×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channel)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with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retry_policy.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82573" y="3157018"/>
            <a:ext cx="49530" cy="250190"/>
            <a:chOff x="482573" y="3157018"/>
            <a:chExt cx="49530" cy="250190"/>
          </a:xfrm>
        </p:grpSpPr>
        <p:sp>
          <p:nvSpPr>
            <p:cNvPr id="22" name="object 22" descr=""/>
            <p:cNvSpPr/>
            <p:nvPr/>
          </p:nvSpPr>
          <p:spPr>
            <a:xfrm>
              <a:off x="488873" y="3163318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36360" y="0"/>
                  </a:moveTo>
                  <a:lnTo>
                    <a:pt x="0" y="0"/>
                  </a:lnTo>
                  <a:lnTo>
                    <a:pt x="0" y="237248"/>
                  </a:lnTo>
                  <a:lnTo>
                    <a:pt x="18364" y="237248"/>
                  </a:lnTo>
                  <a:lnTo>
                    <a:pt x="36360" y="237248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8873" y="3163318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18364" y="237248"/>
                  </a:moveTo>
                  <a:lnTo>
                    <a:pt x="0" y="237248"/>
                  </a:lnTo>
                  <a:lnTo>
                    <a:pt x="0" y="0"/>
                  </a:lnTo>
                  <a:lnTo>
                    <a:pt x="36360" y="0"/>
                  </a:lnTo>
                  <a:lnTo>
                    <a:pt x="36360" y="237248"/>
                  </a:lnTo>
                  <a:lnTo>
                    <a:pt x="18364" y="237248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52780" y="3518181"/>
            <a:ext cx="120014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28255" y="3525737"/>
            <a:ext cx="141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5">
                <a:solidFill>
                  <a:srgbClr val="0E1629"/>
                </a:solidFill>
                <a:latin typeface="Arial Black"/>
                <a:cs typeface="Arial Black"/>
              </a:rPr>
              <a:t>Dispatch</a:t>
            </a:r>
            <a:r>
              <a:rPr dirty="0" sz="1200" spc="-55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0E1629"/>
                </a:solidFill>
                <a:latin typeface="Arial Black"/>
                <a:cs typeface="Arial Black"/>
              </a:rPr>
              <a:t>to</a:t>
            </a:r>
            <a:r>
              <a:rPr dirty="0" sz="1200" spc="-55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0E1629"/>
                </a:solidFill>
                <a:latin typeface="Arial Black"/>
                <a:cs typeface="Arial Black"/>
              </a:rPr>
              <a:t>Celery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33064" y="3533307"/>
            <a:ext cx="4060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apply_async()</a:t>
            </a:r>
            <a:r>
              <a:rPr dirty="0" sz="1100" spc="10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routes</a:t>
            </a:r>
            <a:r>
              <a:rPr dirty="0" sz="1100" spc="9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each</a:t>
            </a:r>
            <a:r>
              <a:rPr dirty="0" sz="1100" spc="9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job</a:t>
            </a:r>
            <a:r>
              <a:rPr dirty="0" sz="1100" spc="10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to</a:t>
            </a:r>
            <a:r>
              <a:rPr dirty="0" sz="1100" spc="8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the</a:t>
            </a:r>
            <a:r>
              <a:rPr dirty="0" sz="1100" spc="9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correct</a:t>
            </a:r>
            <a:r>
              <a:rPr dirty="0" sz="1100" spc="8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RabbitMQ</a:t>
            </a:r>
            <a:r>
              <a:rPr dirty="0" sz="1100" spc="9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queue.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82573" y="3815462"/>
            <a:ext cx="49530" cy="250190"/>
            <a:chOff x="482573" y="3815462"/>
            <a:chExt cx="49530" cy="250190"/>
          </a:xfrm>
        </p:grpSpPr>
        <p:sp>
          <p:nvSpPr>
            <p:cNvPr id="28" name="object 28" descr=""/>
            <p:cNvSpPr/>
            <p:nvPr/>
          </p:nvSpPr>
          <p:spPr>
            <a:xfrm>
              <a:off x="488873" y="3821762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36360" y="0"/>
                  </a:moveTo>
                  <a:lnTo>
                    <a:pt x="0" y="0"/>
                  </a:lnTo>
                  <a:lnTo>
                    <a:pt x="0" y="237235"/>
                  </a:lnTo>
                  <a:lnTo>
                    <a:pt x="18364" y="237235"/>
                  </a:lnTo>
                  <a:lnTo>
                    <a:pt x="36360" y="237235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8873" y="3821762"/>
              <a:ext cx="36830" cy="237490"/>
            </a:xfrm>
            <a:custGeom>
              <a:avLst/>
              <a:gdLst/>
              <a:ahLst/>
              <a:cxnLst/>
              <a:rect l="l" t="t" r="r" b="b"/>
              <a:pathLst>
                <a:path w="36829" h="237489">
                  <a:moveTo>
                    <a:pt x="18364" y="237235"/>
                  </a:moveTo>
                  <a:lnTo>
                    <a:pt x="0" y="237235"/>
                  </a:lnTo>
                  <a:lnTo>
                    <a:pt x="0" y="0"/>
                  </a:lnTo>
                  <a:lnTo>
                    <a:pt x="36360" y="0"/>
                  </a:lnTo>
                  <a:lnTo>
                    <a:pt x="36360" y="237235"/>
                  </a:lnTo>
                  <a:lnTo>
                    <a:pt x="18364" y="237235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52780" y="4189579"/>
            <a:ext cx="168719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87985" algn="l"/>
              </a:tabLst>
            </a:pPr>
            <a:r>
              <a:rPr dirty="0" sz="1300" spc="-5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r>
              <a:rPr dirty="0" sz="13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2314" sz="1800" spc="-89">
                <a:solidFill>
                  <a:srgbClr val="0E1629"/>
                </a:solidFill>
                <a:latin typeface="Arial Black"/>
                <a:cs typeface="Arial Black"/>
              </a:rPr>
              <a:t>Return</a:t>
            </a:r>
            <a:r>
              <a:rPr dirty="0" baseline="2314" sz="1800" spc="-67">
                <a:solidFill>
                  <a:srgbClr val="0E1629"/>
                </a:solidFill>
                <a:latin typeface="Arial Black"/>
                <a:cs typeface="Arial Black"/>
              </a:rPr>
              <a:t> </a:t>
            </a:r>
            <a:r>
              <a:rPr dirty="0" baseline="2314" sz="1800" spc="-60">
                <a:solidFill>
                  <a:srgbClr val="0E1629"/>
                </a:solidFill>
                <a:latin typeface="Arial Black"/>
                <a:cs typeface="Arial Black"/>
              </a:rPr>
              <a:t>summary</a:t>
            </a:r>
            <a:endParaRPr baseline="2314" sz="1800">
              <a:latin typeface="Arial Black"/>
              <a:cs typeface="Arial Black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3233064" y="4191751"/>
            <a:ext cx="41205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Response</a:t>
            </a:r>
            <a:r>
              <a:rPr dirty="0" sz="1100" spc="13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includes</a:t>
            </a:r>
            <a:r>
              <a:rPr dirty="0" sz="1100" spc="12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request_id,</a:t>
            </a:r>
            <a:r>
              <a:rPr dirty="0" sz="1100" spc="12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jobs_created,</a:t>
            </a:r>
            <a:r>
              <a:rPr dirty="0" sz="1100" spc="13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and</a:t>
            </a:r>
            <a:r>
              <a:rPr dirty="0" sz="1100" spc="13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jobs_blocked.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User</a:t>
            </a:r>
            <a:r>
              <a:rPr dirty="0" spc="-140"/>
              <a:t> </a:t>
            </a:r>
            <a:r>
              <a:rPr dirty="0" spc="-155"/>
              <a:t>Preferences</a:t>
            </a:r>
            <a:r>
              <a:rPr dirty="0" spc="-135"/>
              <a:t> </a:t>
            </a:r>
            <a:r>
              <a:rPr dirty="0" spc="-315"/>
              <a:t>&amp;</a:t>
            </a:r>
            <a:r>
              <a:rPr dirty="0" spc="-155"/>
              <a:t> </a:t>
            </a:r>
            <a:r>
              <a:rPr dirty="0" spc="-80"/>
              <a:t>DND</a:t>
            </a:r>
            <a:r>
              <a:rPr dirty="0" spc="-140"/>
              <a:t> </a:t>
            </a:r>
            <a:r>
              <a:rPr dirty="0" spc="-10"/>
              <a:t>Engine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2797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Fine-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grained</a:t>
            </a:r>
            <a:r>
              <a:rPr dirty="0" sz="1200" spc="-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per-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user 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notification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control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73520" y="1352869"/>
            <a:ext cx="4279900" cy="3411220"/>
            <a:chOff x="173520" y="1352869"/>
            <a:chExt cx="4279900" cy="341122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20" y="1352869"/>
              <a:ext cx="4279684" cy="341064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7396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4114431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2057400" y="3245764"/>
                  </a:lnTo>
                  <a:lnTo>
                    <a:pt x="4114431" y="324576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73964" y="1417322"/>
            <a:ext cx="4114800" cy="3246120"/>
          </a:xfrm>
          <a:prstGeom prst="rect">
            <a:avLst/>
          </a:prstGeom>
          <a:ln w="12599">
            <a:solidFill>
              <a:srgbClr val="CAD4E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</a:pPr>
            <a:r>
              <a:rPr dirty="0" sz="1300" spc="-85">
                <a:solidFill>
                  <a:srgbClr val="192A49"/>
                </a:solidFill>
                <a:latin typeface="Arial Black"/>
                <a:cs typeface="Arial Black"/>
              </a:rPr>
              <a:t>Preference</a:t>
            </a:r>
            <a:r>
              <a:rPr dirty="0" sz="1300" spc="-25">
                <a:solidFill>
                  <a:srgbClr val="192A49"/>
                </a:solidFill>
                <a:latin typeface="Arial Black"/>
                <a:cs typeface="Arial Black"/>
              </a:rPr>
              <a:t> </a:t>
            </a:r>
            <a:r>
              <a:rPr dirty="0" sz="1300" spc="-80">
                <a:solidFill>
                  <a:srgbClr val="192A49"/>
                </a:solidFill>
                <a:latin typeface="Arial Black"/>
                <a:cs typeface="Arial Black"/>
              </a:rPr>
              <a:t>Resolution</a:t>
            </a:r>
            <a:r>
              <a:rPr dirty="0" sz="1300" spc="-35">
                <a:solidFill>
                  <a:srgbClr val="192A49"/>
                </a:solidFill>
                <a:latin typeface="Arial Black"/>
                <a:cs typeface="Arial Black"/>
              </a:rPr>
              <a:t> </a:t>
            </a:r>
            <a:r>
              <a:rPr dirty="0" sz="1300" spc="-20">
                <a:solidFill>
                  <a:srgbClr val="192A49"/>
                </a:solidFill>
                <a:latin typeface="Arial Black"/>
                <a:cs typeface="Arial Black"/>
              </a:rPr>
              <a:t>Order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300">
              <a:latin typeface="Arial Black"/>
              <a:cs typeface="Arial Black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①</a:t>
            </a:r>
            <a:r>
              <a:rPr dirty="0" sz="1100" spc="4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No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user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prefs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5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honour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caller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channels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 spc="80">
                <a:solidFill>
                  <a:srgbClr val="63738A"/>
                </a:solidFill>
                <a:latin typeface="Segoe UI Symbol"/>
                <a:cs typeface="Segoe UI Symbol"/>
              </a:rPr>
              <a:t>➁</a:t>
            </a:r>
            <a:r>
              <a:rPr dirty="0" sz="1100" spc="2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Global</a:t>
            </a:r>
            <a:r>
              <a:rPr dirty="0" sz="1100" spc="3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DND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window</a:t>
            </a:r>
            <a:r>
              <a:rPr dirty="0" sz="1100" spc="3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active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15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block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63738A"/>
                </a:solidFill>
                <a:latin typeface="Arial MT"/>
                <a:cs typeface="Arial MT"/>
              </a:rPr>
              <a:t>ALL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③</a:t>
            </a:r>
            <a:r>
              <a:rPr dirty="0" sz="1100" spc="3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Per-event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DND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active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25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block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for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63738A"/>
                </a:solidFill>
                <a:latin typeface="Arial MT"/>
                <a:cs typeface="Arial MT"/>
              </a:rPr>
              <a:t>event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 spc="10">
                <a:solidFill>
                  <a:srgbClr val="63738A"/>
                </a:solidFill>
                <a:latin typeface="Segoe UI Symbol"/>
                <a:cs typeface="Segoe UI Symbol"/>
              </a:rPr>
              <a:t>④</a:t>
            </a:r>
            <a:r>
              <a:rPr dirty="0" sz="1100" spc="6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Intersect</a:t>
            </a:r>
            <a:r>
              <a:rPr dirty="0" sz="1100" spc="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user</a:t>
            </a:r>
            <a:r>
              <a:rPr dirty="0" sz="1100" spc="7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channels</a:t>
            </a:r>
            <a:r>
              <a:rPr dirty="0" sz="1100" spc="10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Segoe UI Symbol"/>
                <a:cs typeface="Segoe UI Symbol"/>
              </a:rPr>
              <a:t>∩</a:t>
            </a:r>
            <a:r>
              <a:rPr dirty="0" sz="1100" spc="4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caller</a:t>
            </a:r>
            <a:r>
              <a:rPr dirty="0" sz="1100" spc="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channels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62640" y="1352869"/>
            <a:ext cx="4279900" cy="3411220"/>
            <a:chOff x="4562640" y="1352869"/>
            <a:chExt cx="4279900" cy="341122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2640" y="1352869"/>
              <a:ext cx="4279684" cy="341064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66308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4114431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2057400" y="3245764"/>
                  </a:lnTo>
                  <a:lnTo>
                    <a:pt x="4114431" y="324576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6308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2057400" y="3245764"/>
                  </a:moveTo>
                  <a:lnTo>
                    <a:pt x="0" y="324576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3245764"/>
                  </a:lnTo>
                  <a:lnTo>
                    <a:pt x="2057400" y="3245764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00244" y="1597941"/>
            <a:ext cx="17087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solidFill>
                  <a:srgbClr val="13B7A5"/>
                </a:solidFill>
                <a:latin typeface="Arial Black"/>
                <a:cs typeface="Arial Black"/>
              </a:rPr>
              <a:t>DND</a:t>
            </a:r>
            <a:r>
              <a:rPr dirty="0" sz="1300" spc="-70">
                <a:solidFill>
                  <a:srgbClr val="13B7A5"/>
                </a:solidFill>
                <a:latin typeface="Arial Black"/>
                <a:cs typeface="Arial Black"/>
              </a:rPr>
              <a:t> Config </a:t>
            </a:r>
            <a:r>
              <a:rPr dirty="0" sz="1300" spc="-80">
                <a:solidFill>
                  <a:srgbClr val="13B7A5"/>
                </a:solidFill>
                <a:latin typeface="Arial Black"/>
                <a:cs typeface="Arial Black"/>
              </a:rPr>
              <a:t>Example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4800244" y="2100505"/>
            <a:ext cx="1308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Courier New"/>
                <a:cs typeface="Courier New"/>
              </a:rPr>
              <a:t>"dnd_windows":</a:t>
            </a:r>
            <a:r>
              <a:rPr dirty="0" sz="1000" spc="-8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1000" spc="-25">
                <a:solidFill>
                  <a:srgbClr val="CAD4E0"/>
                </a:solidFill>
                <a:latin typeface="Courier New"/>
                <a:cs typeface="Courier New"/>
              </a:rPr>
              <a:t>[{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51082" y="2530350"/>
            <a:ext cx="1689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Courier New"/>
                <a:cs typeface="Courier New"/>
              </a:rPr>
              <a:t>"days":</a:t>
            </a:r>
            <a:r>
              <a:rPr dirty="0" sz="1000" spc="-6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["Mon","Tue"],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51082" y="2960181"/>
            <a:ext cx="1308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Courier New"/>
                <a:cs typeface="Courier New"/>
              </a:rPr>
              <a:t>"start":</a:t>
            </a:r>
            <a:r>
              <a:rPr dirty="0" sz="1000" spc="-5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"22:00",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51082" y="3390025"/>
            <a:ext cx="1308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84530" algn="l"/>
              </a:tabLst>
            </a:pP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"end":</a:t>
            </a:r>
            <a:r>
              <a:rPr dirty="0" sz="10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"07:00",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51082" y="3819501"/>
            <a:ext cx="3930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"tz":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635895" y="3819501"/>
            <a:ext cx="10807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CAD4E0"/>
                </a:solidFill>
                <a:latin typeface="Courier New"/>
                <a:cs typeface="Courier New"/>
              </a:rPr>
              <a:t>"Asia/Kolkata"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00244" y="4249345"/>
            <a:ext cx="1638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CAD4E0"/>
                </a:solidFill>
                <a:latin typeface="Courier New"/>
                <a:cs typeface="Courier New"/>
              </a:rPr>
              <a:t>}]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Celery</a:t>
            </a:r>
            <a:r>
              <a:rPr dirty="0" spc="-140"/>
              <a:t> </a:t>
            </a:r>
            <a:r>
              <a:rPr dirty="0" spc="-120"/>
              <a:t>Workers</a:t>
            </a:r>
            <a:r>
              <a:rPr dirty="0" spc="-140"/>
              <a:t> </a:t>
            </a:r>
            <a:r>
              <a:rPr dirty="0" spc="-315"/>
              <a:t>&amp;</a:t>
            </a:r>
            <a:r>
              <a:rPr dirty="0" spc="-140"/>
              <a:t> </a:t>
            </a:r>
            <a:r>
              <a:rPr dirty="0" spc="-105"/>
              <a:t>RabbitMQ</a:t>
            </a:r>
            <a:r>
              <a:rPr dirty="0" spc="-135"/>
              <a:t> </a:t>
            </a:r>
            <a:r>
              <a:rPr dirty="0" spc="-10"/>
              <a:t>Queues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2863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Asynchronous,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40" i="1">
                <a:solidFill>
                  <a:srgbClr val="63738A"/>
                </a:solidFill>
                <a:latin typeface="Trebuchet MS"/>
                <a:cs typeface="Trebuchet MS"/>
              </a:rPr>
              <a:t>per-</a:t>
            </a: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channel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job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processing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19240" y="1398589"/>
            <a:ext cx="4097020" cy="1399540"/>
            <a:chOff x="219240" y="1398589"/>
            <a:chExt cx="4097020" cy="139954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240" y="1398589"/>
              <a:ext cx="4096804" cy="139896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19684" y="146304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393155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1965960" y="1234084"/>
                  </a:lnTo>
                  <a:lnTo>
                    <a:pt x="3931551" y="123408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9684" y="146304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1965960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234084"/>
                  </a:lnTo>
                  <a:lnTo>
                    <a:pt x="1965960" y="123408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0040" y="146304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10943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54724" y="1234084"/>
                  </a:lnTo>
                  <a:lnTo>
                    <a:pt x="109435" y="123408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268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0040" y="146304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54724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234084"/>
                  </a:lnTo>
                  <a:lnTo>
                    <a:pt x="54724" y="1234084"/>
                  </a:lnTo>
                  <a:close/>
                </a:path>
              </a:pathLst>
            </a:custGeom>
            <a:ln w="12599">
              <a:solidFill>
                <a:srgbClr val="0268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0915" y="1572477"/>
              <a:ext cx="2286000" cy="274320"/>
            </a:xfrm>
            <a:custGeom>
              <a:avLst/>
              <a:gdLst/>
              <a:ahLst/>
              <a:cxnLst/>
              <a:rect l="l" t="t" r="r" b="b"/>
              <a:pathLst>
                <a:path w="2286000" h="274319">
                  <a:moveTo>
                    <a:pt x="228564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143000" y="273964"/>
                  </a:lnTo>
                  <a:lnTo>
                    <a:pt x="2285644" y="273964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20915" y="1572477"/>
            <a:ext cx="2286000" cy="274320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741045">
              <a:lnSpc>
                <a:spcPct val="100000"/>
              </a:lnSpc>
              <a:spcBef>
                <a:spcPts val="540"/>
              </a:spcBef>
            </a:pP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email-</a:t>
            </a:r>
            <a:r>
              <a:rPr dirty="0" sz="900" spc="-30">
                <a:solidFill>
                  <a:srgbClr val="FFFFFF"/>
                </a:solidFill>
                <a:latin typeface="Arial Black"/>
                <a:cs typeface="Arial Black"/>
              </a:rPr>
              <a:t>notify-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q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29504" y="2254226"/>
            <a:ext cx="14039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321435" algn="l"/>
              </a:tabLst>
            </a:pP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acks_late=True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8215" y="1908045"/>
            <a:ext cx="1610360" cy="647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Provider:</a:t>
            </a:r>
            <a:r>
              <a:rPr dirty="0" sz="1100" spc="1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SendGrid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Worker:</a:t>
            </a:r>
            <a:r>
              <a:rPr dirty="0" sz="900" spc="-5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-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-concurrency=4 prefetch=1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19240" y="2815909"/>
            <a:ext cx="4097020" cy="1399540"/>
            <a:chOff x="219240" y="2815909"/>
            <a:chExt cx="4097020" cy="1399540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240" y="2815909"/>
              <a:ext cx="4096804" cy="139896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19684" y="288036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393155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1965960" y="1234084"/>
                  </a:lnTo>
                  <a:lnTo>
                    <a:pt x="3931551" y="123408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9684" y="288036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1965960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234084"/>
                  </a:lnTo>
                  <a:lnTo>
                    <a:pt x="1965960" y="123408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0040" y="288036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10943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54724" y="1234084"/>
                  </a:lnTo>
                  <a:lnTo>
                    <a:pt x="109435" y="123408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20040" y="288036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54724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234084"/>
                  </a:lnTo>
                  <a:lnTo>
                    <a:pt x="54724" y="123408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20915" y="2989797"/>
              <a:ext cx="2286000" cy="274320"/>
            </a:xfrm>
            <a:custGeom>
              <a:avLst/>
              <a:gdLst/>
              <a:ahLst/>
              <a:cxnLst/>
              <a:rect l="l" t="t" r="r" b="b"/>
              <a:pathLst>
                <a:path w="2286000" h="274320">
                  <a:moveTo>
                    <a:pt x="228564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143000" y="273964"/>
                  </a:lnTo>
                  <a:lnTo>
                    <a:pt x="2285644" y="273964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20915" y="2989797"/>
            <a:ext cx="2286000" cy="274320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540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sms-</a:t>
            </a:r>
            <a:r>
              <a:rPr dirty="0" sz="900" spc="-30">
                <a:solidFill>
                  <a:srgbClr val="FFFFFF"/>
                </a:solidFill>
                <a:latin typeface="Arial Black"/>
                <a:cs typeface="Arial Black"/>
              </a:rPr>
              <a:t>notify-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q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29504" y="3671546"/>
            <a:ext cx="14039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321435" algn="l"/>
              </a:tabLst>
            </a:pP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acks_late=True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8215" y="3325365"/>
            <a:ext cx="1610360" cy="647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Provider:</a:t>
            </a:r>
            <a:r>
              <a:rPr dirty="0" sz="1100" spc="1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Twilio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Worker:</a:t>
            </a:r>
            <a:r>
              <a:rPr dirty="0" sz="900" spc="-5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-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-concurrency=4 prefetch=1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608360" y="1398589"/>
            <a:ext cx="4097020" cy="1399540"/>
            <a:chOff x="4608360" y="1398589"/>
            <a:chExt cx="4097020" cy="1399540"/>
          </a:xfrm>
        </p:grpSpPr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360" y="1398589"/>
              <a:ext cx="4096804" cy="139896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708804" y="146304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393155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1965960" y="1234084"/>
                  </a:lnTo>
                  <a:lnTo>
                    <a:pt x="3931551" y="123408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708804" y="146304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1965960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234084"/>
                  </a:lnTo>
                  <a:lnTo>
                    <a:pt x="1965960" y="123408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709160" y="146304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10943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54724" y="1234084"/>
                  </a:lnTo>
                  <a:lnTo>
                    <a:pt x="109435" y="123408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709160" y="146304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54724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234084"/>
                  </a:lnTo>
                  <a:lnTo>
                    <a:pt x="54724" y="1234084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910035" y="1572477"/>
              <a:ext cx="2286000" cy="274320"/>
            </a:xfrm>
            <a:custGeom>
              <a:avLst/>
              <a:gdLst/>
              <a:ahLst/>
              <a:cxnLst/>
              <a:rect l="l" t="t" r="r" b="b"/>
              <a:pathLst>
                <a:path w="2286000" h="274319">
                  <a:moveTo>
                    <a:pt x="228564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143000" y="273964"/>
                  </a:lnTo>
                  <a:lnTo>
                    <a:pt x="2285644" y="273964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910035" y="1572477"/>
            <a:ext cx="2286000" cy="274320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619125">
              <a:lnSpc>
                <a:spcPct val="100000"/>
              </a:lnSpc>
              <a:spcBef>
                <a:spcPts val="540"/>
              </a:spcBef>
            </a:pP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whatsapp-</a:t>
            </a:r>
            <a:r>
              <a:rPr dirty="0" sz="900" spc="-35">
                <a:solidFill>
                  <a:srgbClr val="FFFFFF"/>
                </a:solidFill>
                <a:latin typeface="Arial Black"/>
                <a:cs typeface="Arial Black"/>
              </a:rPr>
              <a:t>notify-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q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18623" y="2254226"/>
            <a:ext cx="14039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321435" algn="l"/>
              </a:tabLst>
            </a:pP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acks_late=True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897335" y="1908045"/>
            <a:ext cx="1610360" cy="647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Provider:</a:t>
            </a:r>
            <a:r>
              <a:rPr dirty="0" sz="1100" spc="18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UltraMsg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Worker:</a:t>
            </a:r>
            <a:r>
              <a:rPr dirty="0" sz="900" spc="-5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-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-concurrency=4 prefetch=1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4608360" y="2815909"/>
            <a:ext cx="4097020" cy="1399540"/>
            <a:chOff x="4608360" y="2815909"/>
            <a:chExt cx="4097020" cy="1399540"/>
          </a:xfrm>
        </p:grpSpPr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360" y="2815909"/>
              <a:ext cx="4096804" cy="139896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4708804" y="288036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393155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1965960" y="1234084"/>
                  </a:lnTo>
                  <a:lnTo>
                    <a:pt x="3931551" y="1234084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708804" y="2880362"/>
              <a:ext cx="3931920" cy="1234440"/>
            </a:xfrm>
            <a:custGeom>
              <a:avLst/>
              <a:gdLst/>
              <a:ahLst/>
              <a:cxnLst/>
              <a:rect l="l" t="t" r="r" b="b"/>
              <a:pathLst>
                <a:path w="3931920" h="1234439">
                  <a:moveTo>
                    <a:pt x="1965960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3931551" y="0"/>
                  </a:lnTo>
                  <a:lnTo>
                    <a:pt x="3931551" y="1234084"/>
                  </a:lnTo>
                  <a:lnTo>
                    <a:pt x="1965960" y="123408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709160" y="288036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10943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54724" y="1234084"/>
                  </a:lnTo>
                  <a:lnTo>
                    <a:pt x="109435" y="123408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709160" y="2880362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54724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1234084"/>
                  </a:lnTo>
                  <a:lnTo>
                    <a:pt x="54724" y="1234084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910035" y="2989797"/>
              <a:ext cx="2286000" cy="274320"/>
            </a:xfrm>
            <a:custGeom>
              <a:avLst/>
              <a:gdLst/>
              <a:ahLst/>
              <a:cxnLst/>
              <a:rect l="l" t="t" r="r" b="b"/>
              <a:pathLst>
                <a:path w="2286000" h="274320">
                  <a:moveTo>
                    <a:pt x="228564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143000" y="273964"/>
                  </a:lnTo>
                  <a:lnTo>
                    <a:pt x="2285644" y="273964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4910035" y="2989797"/>
            <a:ext cx="2286000" cy="274320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760730">
              <a:lnSpc>
                <a:spcPct val="100000"/>
              </a:lnSpc>
              <a:spcBef>
                <a:spcPts val="540"/>
              </a:spcBef>
            </a:pP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push-</a:t>
            </a:r>
            <a:r>
              <a:rPr dirty="0" sz="900" spc="-30">
                <a:solidFill>
                  <a:srgbClr val="FFFFFF"/>
                </a:solidFill>
                <a:latin typeface="Arial Black"/>
                <a:cs typeface="Arial Black"/>
              </a:rPr>
              <a:t>notify-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q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7" name="object 4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45" name="object 45" descr=""/>
          <p:cNvSpPr txBox="1"/>
          <p:nvPr/>
        </p:nvSpPr>
        <p:spPr>
          <a:xfrm>
            <a:off x="6618623" y="3671546"/>
            <a:ext cx="14039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321435" algn="l"/>
              </a:tabLst>
            </a:pP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acks_late=True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dirty="0" sz="900" spc="-50">
                <a:solidFill>
                  <a:srgbClr val="CAD4E0"/>
                </a:solidFill>
                <a:latin typeface="Courier New"/>
                <a:cs typeface="Courier New"/>
              </a:rPr>
              <a:t>|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897335" y="3325365"/>
            <a:ext cx="1610360" cy="647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Provider:</a:t>
            </a:r>
            <a:r>
              <a:rPr dirty="0" sz="1100" spc="9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Firebase</a:t>
            </a:r>
            <a:r>
              <a:rPr dirty="0" sz="1100" spc="9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63738A"/>
                </a:solidFill>
                <a:latin typeface="Arial MT"/>
                <a:cs typeface="Arial MT"/>
              </a:rPr>
              <a:t>FCM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Worker:</a:t>
            </a:r>
            <a:r>
              <a:rPr dirty="0" sz="900" spc="-5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CAD4E0"/>
                </a:solidFill>
                <a:latin typeface="Courier New"/>
                <a:cs typeface="Courier New"/>
              </a:rPr>
              <a:t>-</a:t>
            </a:r>
            <a:r>
              <a:rPr dirty="0" sz="900" spc="-10">
                <a:solidFill>
                  <a:srgbClr val="CAD4E0"/>
                </a:solidFill>
                <a:latin typeface="Courier New"/>
                <a:cs typeface="Courier New"/>
              </a:rPr>
              <a:t>-concurrency=4 prefetch=1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MongoDB</a:t>
            </a:r>
            <a:r>
              <a:rPr dirty="0" spc="-145"/>
              <a:t> </a:t>
            </a:r>
            <a:r>
              <a:rPr dirty="0" spc="-110"/>
              <a:t>Data</a:t>
            </a:r>
            <a:r>
              <a:rPr dirty="0" spc="-145"/>
              <a:t> </a:t>
            </a:r>
            <a:r>
              <a:rPr dirty="0" spc="-2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36118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Four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collections</a:t>
            </a:r>
            <a:r>
              <a:rPr dirty="0" sz="1200" spc="-5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254" i="1">
                <a:solidFill>
                  <a:srgbClr val="63738A"/>
                </a:solidFill>
                <a:latin typeface="Trebuchet MS"/>
                <a:cs typeface="Trebuchet MS"/>
              </a:rPr>
              <a:t>—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audit</a:t>
            </a:r>
            <a:r>
              <a:rPr dirty="0" sz="1200" spc="-4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trail </a:t>
            </a:r>
            <a:r>
              <a:rPr dirty="0" sz="1200" spc="-20" i="1">
                <a:solidFill>
                  <a:srgbClr val="63738A"/>
                </a:solidFill>
                <a:latin typeface="Trebuchet MS"/>
                <a:cs typeface="Trebuchet MS"/>
              </a:rPr>
              <a:t>from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30" i="1">
                <a:solidFill>
                  <a:srgbClr val="63738A"/>
                </a:solidFill>
                <a:latin typeface="Trebuchet MS"/>
                <a:cs typeface="Trebuchet MS"/>
              </a:rPr>
              <a:t>request</a:t>
            </a:r>
            <a:r>
              <a:rPr dirty="0" sz="1200" spc="-5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63738A"/>
                </a:solidFill>
                <a:latin typeface="Trebuchet MS"/>
                <a:cs typeface="Trebuchet MS"/>
              </a:rPr>
              <a:t>to</a:t>
            </a:r>
            <a:r>
              <a:rPr dirty="0" sz="1200" spc="-4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63738A"/>
                </a:solidFill>
                <a:latin typeface="Trebuchet MS"/>
                <a:cs typeface="Trebuchet MS"/>
              </a:rPr>
              <a:t>delivery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73520" y="1352869"/>
            <a:ext cx="4279900" cy="1765300"/>
            <a:chOff x="173520" y="1352869"/>
            <a:chExt cx="4279900" cy="176530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20" y="1352869"/>
              <a:ext cx="4279684" cy="176472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73964" y="141732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411443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057400" y="1599844"/>
                  </a:lnTo>
                  <a:lnTo>
                    <a:pt x="4114431" y="159984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73964" y="141732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2057400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599844"/>
                  </a:lnTo>
                  <a:lnTo>
                    <a:pt x="2057400" y="159984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73964" y="1417322"/>
              <a:ext cx="4114800" cy="347345"/>
            </a:xfrm>
            <a:custGeom>
              <a:avLst/>
              <a:gdLst/>
              <a:ahLst/>
              <a:cxnLst/>
              <a:rect l="l" t="t" r="r" b="b"/>
              <a:pathLst>
                <a:path w="4114800" h="347344">
                  <a:moveTo>
                    <a:pt x="4114431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2057400" y="347040"/>
                  </a:lnTo>
                  <a:lnTo>
                    <a:pt x="4114431" y="3470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73964" y="1417322"/>
            <a:ext cx="4114800" cy="347345"/>
          </a:xfrm>
          <a:prstGeom prst="rect">
            <a:avLst/>
          </a:prstGeom>
          <a:ln w="12599">
            <a:solidFill>
              <a:srgbClr val="192A49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ourier New"/>
                <a:cs typeface="Courier New"/>
              </a:rPr>
              <a:t>notification_requests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247650" indent="-144780">
              <a:lnSpc>
                <a:spcPct val="100000"/>
              </a:lnSpc>
              <a:spcBef>
                <a:spcPts val="325"/>
              </a:spcBef>
              <a:buChar char="•"/>
              <a:tabLst>
                <a:tab pos="247650" algn="l"/>
              </a:tabLst>
            </a:pPr>
            <a:r>
              <a:rPr dirty="0" spc="-10"/>
              <a:t>request_id</a:t>
            </a: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pc="-10"/>
              <a:t>client_id</a:t>
            </a: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pc="-10"/>
              <a:t>event_type</a:t>
            </a: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pc="-10"/>
              <a:t>recipients[]</a:t>
            </a: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pc="-10"/>
              <a:t>channels_requested</a:t>
            </a: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pc="-10"/>
              <a:t>status</a:t>
            </a: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pc="-10"/>
              <a:t>created_at</a:t>
            </a:r>
          </a:p>
        </p:txBody>
      </p:sp>
      <p:grpSp>
        <p:nvGrpSpPr>
          <p:cNvPr id="14" name="object 14" descr=""/>
          <p:cNvGrpSpPr/>
          <p:nvPr/>
        </p:nvGrpSpPr>
        <p:grpSpPr>
          <a:xfrm>
            <a:off x="173520" y="3090229"/>
            <a:ext cx="4279900" cy="1765300"/>
            <a:chOff x="173520" y="3090229"/>
            <a:chExt cx="4279900" cy="176530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20" y="3090229"/>
              <a:ext cx="4279684" cy="176472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73964" y="315468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411443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057400" y="1599844"/>
                  </a:lnTo>
                  <a:lnTo>
                    <a:pt x="4114431" y="159984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73964" y="315468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2057400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599844"/>
                  </a:lnTo>
                  <a:lnTo>
                    <a:pt x="2057400" y="159984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3964" y="3154682"/>
              <a:ext cx="4114800" cy="347345"/>
            </a:xfrm>
            <a:custGeom>
              <a:avLst/>
              <a:gdLst/>
              <a:ahLst/>
              <a:cxnLst/>
              <a:rect l="l" t="t" r="r" b="b"/>
              <a:pathLst>
                <a:path w="4114800" h="347345">
                  <a:moveTo>
                    <a:pt x="4114431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2057400" y="347040"/>
                  </a:lnTo>
                  <a:lnTo>
                    <a:pt x="4114431" y="3470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73964" y="3154682"/>
            <a:ext cx="4114800" cy="34734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ourier New"/>
                <a:cs typeface="Courier New"/>
              </a:rPr>
              <a:t>notification_jobs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80264" y="3530058"/>
            <a:ext cx="4102100" cy="12414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7650" indent="-144780">
              <a:lnSpc>
                <a:spcPct val="100000"/>
              </a:lnSpc>
              <a:spcBef>
                <a:spcPts val="3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job_id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request_id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channel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recipient_address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priority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retry_policy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status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562640" y="1352869"/>
            <a:ext cx="4279900" cy="1765300"/>
            <a:chOff x="4562640" y="1352869"/>
            <a:chExt cx="4279900" cy="1765300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2640" y="1352869"/>
              <a:ext cx="4279684" cy="176472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663084" y="141732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411443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057400" y="1599844"/>
                  </a:lnTo>
                  <a:lnTo>
                    <a:pt x="4114431" y="159984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63084" y="141732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2057400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599844"/>
                  </a:lnTo>
                  <a:lnTo>
                    <a:pt x="2057400" y="159984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63084" y="1417322"/>
              <a:ext cx="4114800" cy="347345"/>
            </a:xfrm>
            <a:custGeom>
              <a:avLst/>
              <a:gdLst/>
              <a:ahLst/>
              <a:cxnLst/>
              <a:rect l="l" t="t" r="r" b="b"/>
              <a:pathLst>
                <a:path w="4114800" h="347344">
                  <a:moveTo>
                    <a:pt x="4114431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2057400" y="347040"/>
                  </a:lnTo>
                  <a:lnTo>
                    <a:pt x="4114431" y="3470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63084" y="1417322"/>
            <a:ext cx="4114800" cy="347345"/>
          </a:xfrm>
          <a:prstGeom prst="rect">
            <a:avLst/>
          </a:prstGeom>
          <a:ln w="12599">
            <a:solidFill>
              <a:srgbClr val="7B39EC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ourier New"/>
                <a:cs typeface="Courier New"/>
              </a:rPr>
              <a:t>delivery_logs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669384" y="1792698"/>
            <a:ext cx="4102100" cy="12414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7650" indent="-144780">
              <a:lnSpc>
                <a:spcPct val="100000"/>
              </a:lnSpc>
              <a:spcBef>
                <a:spcPts val="3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log_id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job_id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provider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provider_message_id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status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attempt_number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sent_at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62640" y="3090229"/>
            <a:ext cx="4279900" cy="1765300"/>
            <a:chOff x="4562640" y="3090229"/>
            <a:chExt cx="4279900" cy="1765300"/>
          </a:xfrm>
        </p:grpSpPr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2640" y="3090229"/>
              <a:ext cx="4279684" cy="176472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663084" y="315468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411443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057400" y="1599844"/>
                  </a:lnTo>
                  <a:lnTo>
                    <a:pt x="4114431" y="159984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663084" y="3154682"/>
              <a:ext cx="4114800" cy="1600200"/>
            </a:xfrm>
            <a:custGeom>
              <a:avLst/>
              <a:gdLst/>
              <a:ahLst/>
              <a:cxnLst/>
              <a:rect l="l" t="t" r="r" b="b"/>
              <a:pathLst>
                <a:path w="4114800" h="1600200">
                  <a:moveTo>
                    <a:pt x="2057400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599844"/>
                  </a:lnTo>
                  <a:lnTo>
                    <a:pt x="2057400" y="1599844"/>
                  </a:lnTo>
                  <a:close/>
                </a:path>
              </a:pathLst>
            </a:custGeom>
            <a:ln w="1259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663084" y="3154682"/>
              <a:ext cx="4114800" cy="347345"/>
            </a:xfrm>
            <a:custGeom>
              <a:avLst/>
              <a:gdLst/>
              <a:ahLst/>
              <a:cxnLst/>
              <a:rect l="l" t="t" r="r" b="b"/>
              <a:pathLst>
                <a:path w="4114800" h="347345">
                  <a:moveTo>
                    <a:pt x="4114431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2057400" y="347040"/>
                  </a:lnTo>
                  <a:lnTo>
                    <a:pt x="4114431" y="3470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663084" y="3154682"/>
            <a:ext cx="4114800" cy="347345"/>
          </a:xfrm>
          <a:prstGeom prst="rect">
            <a:avLst/>
          </a:prstGeom>
          <a:ln w="12599">
            <a:solidFill>
              <a:srgbClr val="D87605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ourier New"/>
                <a:cs typeface="Courier New"/>
              </a:rPr>
              <a:t>user_preferences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4669384" y="3530058"/>
            <a:ext cx="4102100" cy="7200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7650" indent="-144780">
              <a:lnSpc>
                <a:spcPct val="100000"/>
              </a:lnSpc>
              <a:spcBef>
                <a:spcPts val="3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user_id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>
                <a:solidFill>
                  <a:srgbClr val="63738A"/>
                </a:solidFill>
                <a:latin typeface="Courier New"/>
                <a:cs typeface="Courier New"/>
              </a:rPr>
              <a:t>email</a:t>
            </a:r>
            <a:r>
              <a:rPr dirty="0" sz="950" spc="-35">
                <a:solidFill>
                  <a:srgbClr val="63738A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63738A"/>
                </a:solidFill>
                <a:latin typeface="Courier New"/>
                <a:cs typeface="Courier New"/>
              </a:rPr>
              <a:t>/</a:t>
            </a:r>
            <a:r>
              <a:rPr dirty="0" sz="950" spc="-30">
                <a:solidFill>
                  <a:srgbClr val="63738A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63738A"/>
                </a:solidFill>
                <a:latin typeface="Courier New"/>
                <a:cs typeface="Courier New"/>
              </a:rPr>
              <a:t>phone</a:t>
            </a:r>
            <a:r>
              <a:rPr dirty="0" sz="950" spc="-35">
                <a:solidFill>
                  <a:srgbClr val="63738A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63738A"/>
                </a:solidFill>
                <a:latin typeface="Courier New"/>
                <a:cs typeface="Courier New"/>
              </a:rPr>
              <a:t>/</a:t>
            </a:r>
            <a:r>
              <a:rPr dirty="0" sz="950" spc="-30">
                <a:solidFill>
                  <a:srgbClr val="63738A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wa_number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9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event_channel_preferences[]</a:t>
            </a:r>
            <a:endParaRPr sz="950">
              <a:latin typeface="Courier New"/>
              <a:cs typeface="Courier New"/>
            </a:endParaRPr>
          </a:p>
          <a:p>
            <a:pPr marL="247650" indent="-144780">
              <a:lnSpc>
                <a:spcPct val="100000"/>
              </a:lnSpc>
              <a:spcBef>
                <a:spcPts val="225"/>
              </a:spcBef>
              <a:buChar char="•"/>
              <a:tabLst>
                <a:tab pos="247650" algn="l"/>
              </a:tabLst>
            </a:pPr>
            <a:r>
              <a:rPr dirty="0" sz="950" spc="-10">
                <a:solidFill>
                  <a:srgbClr val="63738A"/>
                </a:solidFill>
                <a:latin typeface="Courier New"/>
                <a:cs typeface="Courier New"/>
              </a:rPr>
              <a:t>dnd_windows[]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Frontend</a:t>
            </a:r>
            <a:r>
              <a:rPr dirty="0" spc="-155"/>
              <a:t> </a:t>
            </a:r>
            <a:r>
              <a:rPr dirty="0"/>
              <a:t>—</a:t>
            </a:r>
            <a:r>
              <a:rPr dirty="0" spc="-145"/>
              <a:t> </a:t>
            </a:r>
            <a:r>
              <a:rPr dirty="0" spc="-204"/>
              <a:t>React</a:t>
            </a:r>
            <a:r>
              <a:rPr dirty="0" spc="-150"/>
              <a:t> </a:t>
            </a:r>
            <a:r>
              <a:rPr dirty="0" spc="-210"/>
              <a:t>+</a:t>
            </a:r>
            <a:r>
              <a:rPr dirty="0" spc="-155"/>
              <a:t> </a:t>
            </a:r>
            <a:r>
              <a:rPr dirty="0" spc="-20"/>
              <a:t>Vite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4340" y="1065862"/>
            <a:ext cx="1337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63738A"/>
                </a:solidFill>
                <a:latin typeface="Trebuchet MS"/>
                <a:cs typeface="Trebuchet MS"/>
              </a:rPr>
              <a:t>User</a:t>
            </a:r>
            <a:r>
              <a:rPr dirty="0" sz="1200" spc="-60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35" i="1">
                <a:solidFill>
                  <a:srgbClr val="63738A"/>
                </a:solidFill>
                <a:latin typeface="Trebuchet MS"/>
                <a:cs typeface="Trebuchet MS"/>
              </a:rPr>
              <a:t>Preferences</a:t>
            </a:r>
            <a:r>
              <a:rPr dirty="0" sz="1200" spc="-55" i="1">
                <a:solidFill>
                  <a:srgbClr val="63738A"/>
                </a:solidFill>
                <a:latin typeface="Trebuchet MS"/>
                <a:cs typeface="Trebuchet MS"/>
              </a:rPr>
              <a:t> </a:t>
            </a:r>
            <a:r>
              <a:rPr dirty="0" sz="1200" spc="-25" i="1">
                <a:solidFill>
                  <a:srgbClr val="63738A"/>
                </a:solidFill>
                <a:latin typeface="Trebuchet MS"/>
                <a:cs typeface="Trebuchet MS"/>
              </a:rPr>
              <a:t>UI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6655" y="4912742"/>
            <a:ext cx="9156700" cy="236220"/>
            <a:chOff x="-6655" y="4912742"/>
            <a:chExt cx="9156700" cy="236220"/>
          </a:xfrm>
        </p:grpSpPr>
        <p:sp>
          <p:nvSpPr>
            <p:cNvPr id="5" name="object 5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9143631" y="0"/>
                  </a:moveTo>
                  <a:lnTo>
                    <a:pt x="0" y="0"/>
                  </a:lnTo>
                  <a:lnTo>
                    <a:pt x="0" y="223558"/>
                  </a:lnTo>
                  <a:lnTo>
                    <a:pt x="4572000" y="223558"/>
                  </a:lnTo>
                  <a:lnTo>
                    <a:pt x="9143631" y="22355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355" y="4919042"/>
              <a:ext cx="9144000" cy="224154"/>
            </a:xfrm>
            <a:custGeom>
              <a:avLst/>
              <a:gdLst/>
              <a:ahLst/>
              <a:cxnLst/>
              <a:rect l="l" t="t" r="r" b="b"/>
              <a:pathLst>
                <a:path w="9144000" h="224154">
                  <a:moveTo>
                    <a:pt x="4572000" y="223558"/>
                  </a:moveTo>
                  <a:lnTo>
                    <a:pt x="0" y="22355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23558"/>
                  </a:lnTo>
                  <a:lnTo>
                    <a:pt x="4572000" y="223558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73520" y="1352869"/>
            <a:ext cx="4279900" cy="3411220"/>
            <a:chOff x="173520" y="1352869"/>
            <a:chExt cx="4279900" cy="341122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20" y="1352869"/>
              <a:ext cx="4279684" cy="341064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7396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4114431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2057400" y="3245764"/>
                  </a:lnTo>
                  <a:lnTo>
                    <a:pt x="4114431" y="324576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73964" y="1417322"/>
            <a:ext cx="4114800" cy="3246120"/>
          </a:xfrm>
          <a:prstGeom prst="rect">
            <a:avLst/>
          </a:prstGeom>
          <a:ln w="12599">
            <a:solidFill>
              <a:srgbClr val="CAD4E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</a:pPr>
            <a:r>
              <a:rPr dirty="0" sz="1300" spc="-65">
                <a:solidFill>
                  <a:srgbClr val="192A49"/>
                </a:solidFill>
                <a:latin typeface="Arial Black"/>
                <a:cs typeface="Arial Black"/>
              </a:rPr>
              <a:t>UI</a:t>
            </a:r>
            <a:r>
              <a:rPr dirty="0" sz="1300" spc="-95">
                <a:solidFill>
                  <a:srgbClr val="192A49"/>
                </a:solidFill>
                <a:latin typeface="Arial Black"/>
                <a:cs typeface="Arial Black"/>
              </a:rPr>
              <a:t> </a:t>
            </a:r>
            <a:r>
              <a:rPr dirty="0" sz="1300" spc="-10">
                <a:solidFill>
                  <a:srgbClr val="192A49"/>
                </a:solidFill>
                <a:latin typeface="Arial Black"/>
                <a:cs typeface="Arial Black"/>
              </a:rPr>
              <a:t>Capabilities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300">
              <a:latin typeface="Arial Black"/>
              <a:cs typeface="Arial Black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40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Set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email,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phone,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WhatsApp,</a:t>
            </a:r>
            <a:r>
              <a:rPr dirty="0" sz="1100" spc="6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63738A"/>
                </a:solidFill>
                <a:latin typeface="Arial MT"/>
                <a:cs typeface="Arial MT"/>
              </a:rPr>
              <a:t>FCM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63738A"/>
                </a:solidFill>
                <a:latin typeface="Arial MT"/>
                <a:cs typeface="Arial MT"/>
              </a:rPr>
              <a:t>token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365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Choose</a:t>
            </a:r>
            <a:r>
              <a:rPr dirty="0" sz="1100" spc="3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channels</a:t>
            </a:r>
            <a:r>
              <a:rPr dirty="0" sz="1100" spc="3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per</a:t>
            </a:r>
            <a:r>
              <a:rPr dirty="0" sz="1100" spc="3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event</a:t>
            </a:r>
            <a:r>
              <a:rPr dirty="0" sz="1100" spc="3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63738A"/>
                </a:solidFill>
                <a:latin typeface="Arial MT"/>
                <a:cs typeface="Arial MT"/>
              </a:rPr>
              <a:t>type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 spc="1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415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Configure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global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63738A"/>
                </a:solidFill>
                <a:latin typeface="Arial MT"/>
                <a:cs typeface="Arial MT"/>
              </a:rPr>
              <a:t>&amp;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per-event</a:t>
            </a:r>
            <a:r>
              <a:rPr dirty="0" sz="1100" spc="5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63738A"/>
                </a:solidFill>
                <a:latin typeface="Arial MT"/>
                <a:cs typeface="Arial MT"/>
              </a:rPr>
              <a:t>DND</a:t>
            </a:r>
            <a:r>
              <a:rPr dirty="0" sz="1100" spc="7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windows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390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Timezone-aware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DND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scheduling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375">
                <a:solidFill>
                  <a:srgbClr val="63738A"/>
                </a:solidFill>
                <a:latin typeface="Segoe UI Symbol"/>
                <a:cs typeface="Segoe UI Symbol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Calls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63738A"/>
                </a:solidFill>
                <a:latin typeface="Arial MT"/>
                <a:cs typeface="Arial MT"/>
              </a:rPr>
              <a:t>GET/POST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/preferences</a:t>
            </a:r>
            <a:r>
              <a:rPr dirty="0" sz="1100" spc="40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63738A"/>
                </a:solidFill>
                <a:latin typeface="Arial MT"/>
                <a:cs typeface="Arial MT"/>
              </a:rPr>
              <a:t>on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FastAPI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</a:pPr>
            <a:r>
              <a:rPr dirty="0" sz="1100">
                <a:solidFill>
                  <a:srgbClr val="63738A"/>
                </a:solidFill>
                <a:latin typeface="Segoe UI Symbol"/>
                <a:cs typeface="Segoe UI Symbol"/>
              </a:rPr>
              <a:t>→</a:t>
            </a:r>
            <a:r>
              <a:rPr dirty="0" sz="1100" spc="110">
                <a:solidFill>
                  <a:srgbClr val="63738A"/>
                </a:solidFill>
                <a:latin typeface="Segoe UI Symbol"/>
                <a:cs typeface="Segoe UI Symbol"/>
              </a:rPr>
              <a:t>  </a:t>
            </a:r>
            <a:r>
              <a:rPr dirty="0" sz="1100" spc="-10">
                <a:solidFill>
                  <a:srgbClr val="63738A"/>
                </a:solidFill>
                <a:latin typeface="Arial MT"/>
                <a:cs typeface="Arial MT"/>
              </a:rPr>
              <a:t>Calls</a:t>
            </a:r>
            <a:r>
              <a:rPr dirty="0" sz="1100" spc="114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/user-event-types</a:t>
            </a:r>
            <a:r>
              <a:rPr dirty="0" sz="1100" spc="114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75">
                <a:solidFill>
                  <a:srgbClr val="63738A"/>
                </a:solidFill>
                <a:latin typeface="Arial MT"/>
                <a:cs typeface="Arial MT"/>
              </a:rPr>
              <a:t>to</a:t>
            </a:r>
            <a:r>
              <a:rPr dirty="0" sz="1100" spc="105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38A"/>
                </a:solidFill>
                <a:latin typeface="Arial MT"/>
                <a:cs typeface="Arial MT"/>
              </a:rPr>
              <a:t>populate</a:t>
            </a:r>
            <a:r>
              <a:rPr dirty="0" sz="1100" spc="114">
                <a:solidFill>
                  <a:srgbClr val="63738A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63738A"/>
                </a:solidFill>
                <a:latin typeface="Arial MT"/>
                <a:cs typeface="Arial MT"/>
              </a:rPr>
              <a:t>dropdown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62640" y="1352869"/>
            <a:ext cx="4279900" cy="3411220"/>
            <a:chOff x="4562640" y="1352869"/>
            <a:chExt cx="4279900" cy="341122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2640" y="1352869"/>
              <a:ext cx="4279684" cy="341064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66308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4114431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2057400" y="3245764"/>
                  </a:lnTo>
                  <a:lnTo>
                    <a:pt x="4114431" y="324576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63084" y="1417322"/>
              <a:ext cx="4114800" cy="3246120"/>
            </a:xfrm>
            <a:custGeom>
              <a:avLst/>
              <a:gdLst/>
              <a:ahLst/>
              <a:cxnLst/>
              <a:rect l="l" t="t" r="r" b="b"/>
              <a:pathLst>
                <a:path w="4114800" h="3246120">
                  <a:moveTo>
                    <a:pt x="2057400" y="3245764"/>
                  </a:moveTo>
                  <a:lnTo>
                    <a:pt x="0" y="3245764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3245764"/>
                  </a:lnTo>
                  <a:lnTo>
                    <a:pt x="2057400" y="3245764"/>
                  </a:lnTo>
                  <a:close/>
                </a:path>
              </a:pathLst>
            </a:custGeom>
            <a:ln w="12599">
              <a:solidFill>
                <a:srgbClr val="19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00244" y="1597941"/>
            <a:ext cx="87756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55">
                <a:solidFill>
                  <a:srgbClr val="13B7A5"/>
                </a:solidFill>
                <a:latin typeface="Arial Black"/>
                <a:cs typeface="Arial Black"/>
              </a:rPr>
              <a:t>Tech</a:t>
            </a:r>
            <a:r>
              <a:rPr dirty="0" sz="1300" spc="-80">
                <a:solidFill>
                  <a:srgbClr val="13B7A5"/>
                </a:solidFill>
                <a:latin typeface="Arial Black"/>
                <a:cs typeface="Arial Black"/>
              </a:rPr>
              <a:t> </a:t>
            </a:r>
            <a:r>
              <a:rPr dirty="0" sz="1300" spc="-110">
                <a:solidFill>
                  <a:srgbClr val="13B7A5"/>
                </a:solidFill>
                <a:latin typeface="Arial Black"/>
                <a:cs typeface="Arial Black"/>
              </a:rPr>
              <a:t>Stack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Notification</a:t>
            </a:r>
            <a:r>
              <a:rPr dirty="0" spc="125"/>
              <a:t> </a:t>
            </a:r>
            <a:r>
              <a:rPr dirty="0"/>
              <a:t>Framework</a:t>
            </a:r>
            <a:r>
              <a:rPr dirty="0" spc="125"/>
              <a:t>  </a:t>
            </a:r>
            <a:r>
              <a:rPr dirty="0" spc="254"/>
              <a:t>|</a:t>
            </a:r>
            <a:r>
              <a:rPr dirty="0" spc="130"/>
              <a:t>  </a:t>
            </a:r>
            <a:r>
              <a:rPr dirty="0"/>
              <a:t>Internal</a:t>
            </a:r>
            <a:r>
              <a:rPr dirty="0" spc="114"/>
              <a:t> </a:t>
            </a:r>
            <a:r>
              <a:rPr dirty="0"/>
              <a:t>Technical</a:t>
            </a:r>
            <a:r>
              <a:rPr dirty="0" spc="130"/>
              <a:t> </a:t>
            </a:r>
            <a:r>
              <a:rPr dirty="0" spc="-10"/>
              <a:t>Overview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4800244" y="2114183"/>
            <a:ext cx="732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13B7A5"/>
                </a:solidFill>
                <a:latin typeface="Arial Black"/>
                <a:cs typeface="Arial Black"/>
              </a:rPr>
              <a:t>Framework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27356" y="2114183"/>
            <a:ext cx="986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React</a:t>
            </a:r>
            <a:r>
              <a:rPr dirty="0" sz="100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19</a:t>
            </a:r>
            <a:r>
              <a:rPr dirty="0" sz="100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+</a:t>
            </a:r>
            <a:r>
              <a:rPr dirty="0" sz="100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Vite</a:t>
            </a:r>
            <a:r>
              <a:rPr dirty="0" sz="1000" spc="-2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CAD4E0"/>
                </a:solidFill>
                <a:latin typeface="Arial MT"/>
                <a:cs typeface="Arial MT"/>
              </a:rPr>
              <a:t>8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00244" y="2644459"/>
            <a:ext cx="3371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solidFill>
                  <a:srgbClr val="13B7A5"/>
                </a:solidFill>
                <a:latin typeface="Arial Black"/>
                <a:cs typeface="Arial Black"/>
              </a:rPr>
              <a:t>Build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327356" y="2644459"/>
            <a:ext cx="15855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25">
                <a:solidFill>
                  <a:srgbClr val="CAD4E0"/>
                </a:solidFill>
                <a:latin typeface="Arial MT"/>
                <a:cs typeface="Arial MT"/>
              </a:rPr>
              <a:t>ES</a:t>
            </a:r>
            <a:r>
              <a:rPr dirty="0" sz="1000" spc="8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Modules</a:t>
            </a:r>
            <a:r>
              <a:rPr dirty="0" sz="1000" spc="9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(type: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module)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00244" y="3175103"/>
            <a:ext cx="6819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13B7A5"/>
                </a:solidFill>
                <a:latin typeface="Arial Black"/>
                <a:cs typeface="Arial Black"/>
              </a:rPr>
              <a:t>Dev</a:t>
            </a:r>
            <a:r>
              <a:rPr dirty="0" sz="1000" spc="-60">
                <a:solidFill>
                  <a:srgbClr val="13B7A5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13B7A5"/>
                </a:solidFill>
                <a:latin typeface="Arial Black"/>
                <a:cs typeface="Arial Black"/>
              </a:rPr>
              <a:t>server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27356" y="3175103"/>
            <a:ext cx="1368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vite</a:t>
            </a:r>
            <a:r>
              <a:rPr dirty="0" sz="1000" spc="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--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port</a:t>
            </a:r>
            <a:r>
              <a:rPr dirty="0" sz="1000" spc="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CAD4E0"/>
                </a:solidFill>
                <a:latin typeface="Arial MT"/>
                <a:cs typeface="Arial MT"/>
              </a:rPr>
              <a:t>default</a:t>
            </a:r>
            <a:r>
              <a:rPr dirty="0" sz="1000" spc="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CAD4E0"/>
                </a:solidFill>
                <a:latin typeface="Arial MT"/>
                <a:cs typeface="Arial MT"/>
              </a:rPr>
              <a:t>5173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00244" y="3705392"/>
            <a:ext cx="6172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solidFill>
                  <a:srgbClr val="13B7A5"/>
                </a:solidFill>
                <a:latin typeface="Arial Black"/>
                <a:cs typeface="Arial Black"/>
              </a:rPr>
              <a:t>API </a:t>
            </a:r>
            <a:r>
              <a:rPr dirty="0" sz="1000" spc="-45">
                <a:solidFill>
                  <a:srgbClr val="13B7A5"/>
                </a:solidFill>
                <a:latin typeface="Arial Black"/>
                <a:cs typeface="Arial Black"/>
              </a:rPr>
              <a:t>proxy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27356" y="3705392"/>
            <a:ext cx="13144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0">
                <a:solidFill>
                  <a:srgbClr val="CAD4E0"/>
                </a:solidFill>
                <a:latin typeface="Arial MT"/>
                <a:cs typeface="Arial MT"/>
              </a:rPr>
              <a:t>CORS</a:t>
            </a:r>
            <a:r>
              <a:rPr dirty="0" sz="1000" spc="15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allowed</a:t>
            </a:r>
            <a:r>
              <a:rPr dirty="0" sz="1000" spc="17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origin</a:t>
            </a:r>
            <a:r>
              <a:rPr dirty="0" sz="1000" spc="16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110">
                <a:solidFill>
                  <a:srgbClr val="CAD4E0"/>
                </a:solidFill>
                <a:latin typeface="Arial MT"/>
                <a:cs typeface="Arial MT"/>
              </a:rPr>
              <a:t>*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00244" y="4235667"/>
            <a:ext cx="3429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13B7A5"/>
                </a:solidFill>
                <a:latin typeface="Arial Black"/>
                <a:cs typeface="Arial Black"/>
              </a:rPr>
              <a:t>State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327356" y="4235667"/>
            <a:ext cx="1543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React</a:t>
            </a:r>
            <a:r>
              <a:rPr dirty="0" sz="100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useState</a:t>
            </a:r>
            <a:r>
              <a:rPr dirty="0" sz="1000" spc="-1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/</a:t>
            </a:r>
            <a:r>
              <a:rPr dirty="0" sz="1000" spc="-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useEffect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92A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680144" y="-6653"/>
            <a:ext cx="469900" cy="5156200"/>
            <a:chOff x="8680144" y="-6653"/>
            <a:chExt cx="469900" cy="5156200"/>
          </a:xfrm>
        </p:grpSpPr>
        <p:sp>
          <p:nvSpPr>
            <p:cNvPr id="4" name="object 4" descr=""/>
            <p:cNvSpPr/>
            <p:nvPr/>
          </p:nvSpPr>
          <p:spPr>
            <a:xfrm>
              <a:off x="8686444" y="-353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6831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28600" y="5143309"/>
                  </a:lnTo>
                  <a:lnTo>
                    <a:pt x="456831" y="5143309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686444" y="-353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22860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5143309"/>
                  </a:lnTo>
                  <a:lnTo>
                    <a:pt x="228600" y="514330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44" y="253709"/>
            <a:ext cx="40919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5"/>
              <a:t>Sprint</a:t>
            </a:r>
            <a:r>
              <a:rPr dirty="0" sz="2800" spc="-204"/>
              <a:t> </a:t>
            </a:r>
            <a:r>
              <a:rPr dirty="0" sz="2800" spc="-280"/>
              <a:t>2</a:t>
            </a:r>
            <a:r>
              <a:rPr dirty="0" sz="2800" spc="-210"/>
              <a:t> </a:t>
            </a:r>
            <a:r>
              <a:rPr dirty="0" sz="2800"/>
              <a:t>—</a:t>
            </a:r>
            <a:r>
              <a:rPr dirty="0" sz="2800" spc="-215"/>
              <a:t> </a:t>
            </a:r>
            <a:r>
              <a:rPr dirty="0" sz="2800" spc="-130"/>
              <a:t>What's</a:t>
            </a:r>
            <a:r>
              <a:rPr dirty="0" sz="2800" spc="-195"/>
              <a:t> </a:t>
            </a:r>
            <a:r>
              <a:rPr dirty="0" sz="2800" spc="-114"/>
              <a:t>Next</a:t>
            </a:r>
            <a:endParaRPr sz="2800"/>
          </a:p>
        </p:txBody>
      </p:sp>
      <p:sp>
        <p:nvSpPr>
          <p:cNvPr id="7" name="object 7" descr=""/>
          <p:cNvSpPr txBox="1"/>
          <p:nvPr/>
        </p:nvSpPr>
        <p:spPr>
          <a:xfrm>
            <a:off x="444144" y="819253"/>
            <a:ext cx="2413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CAD4E0"/>
                </a:solidFill>
                <a:latin typeface="Trebuchet MS"/>
                <a:cs typeface="Trebuchet MS"/>
              </a:rPr>
              <a:t>Planned</a:t>
            </a:r>
            <a:r>
              <a:rPr dirty="0" sz="1200" spc="-45" i="1">
                <a:solidFill>
                  <a:srgbClr val="CAD4E0"/>
                </a:solidFill>
                <a:latin typeface="Trebuchet MS"/>
                <a:cs typeface="Trebuchet MS"/>
              </a:rPr>
              <a:t> </a:t>
            </a:r>
            <a:r>
              <a:rPr dirty="0" sz="1200" spc="-35" i="1">
                <a:solidFill>
                  <a:srgbClr val="CAD4E0"/>
                </a:solidFill>
                <a:latin typeface="Trebuchet MS"/>
                <a:cs typeface="Trebuchet MS"/>
              </a:rPr>
              <a:t>features</a:t>
            </a:r>
            <a:r>
              <a:rPr dirty="0" sz="1200" spc="-30" i="1">
                <a:solidFill>
                  <a:srgbClr val="CAD4E0"/>
                </a:solidFill>
                <a:latin typeface="Trebuchet MS"/>
                <a:cs typeface="Trebuchet MS"/>
              </a:rPr>
              <a:t> </a:t>
            </a:r>
            <a:r>
              <a:rPr dirty="0" sz="1200" spc="-45" i="1">
                <a:solidFill>
                  <a:srgbClr val="CAD4E0"/>
                </a:solidFill>
                <a:latin typeface="Trebuchet MS"/>
                <a:cs typeface="Trebuchet MS"/>
              </a:rPr>
              <a:t>for</a:t>
            </a:r>
            <a:r>
              <a:rPr dirty="0" sz="1200" spc="-30" i="1">
                <a:solidFill>
                  <a:srgbClr val="CAD4E0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CAD4E0"/>
                </a:solidFill>
                <a:latin typeface="Trebuchet MS"/>
                <a:cs typeface="Trebuchet MS"/>
              </a:rPr>
              <a:t>the</a:t>
            </a:r>
            <a:r>
              <a:rPr dirty="0" sz="1200" spc="-25" i="1">
                <a:solidFill>
                  <a:srgbClr val="CAD4E0"/>
                </a:solidFill>
                <a:latin typeface="Trebuchet MS"/>
                <a:cs typeface="Trebuchet MS"/>
              </a:rPr>
              <a:t> </a:t>
            </a:r>
            <a:r>
              <a:rPr dirty="0" sz="1200" spc="-45" i="1">
                <a:solidFill>
                  <a:srgbClr val="CAD4E0"/>
                </a:solidFill>
                <a:latin typeface="Trebuchet MS"/>
                <a:cs typeface="Trebuchet MS"/>
              </a:rPr>
              <a:t>next</a:t>
            </a:r>
            <a:r>
              <a:rPr dirty="0" sz="1200" spc="-30" i="1">
                <a:solidFill>
                  <a:srgbClr val="CAD4E0"/>
                </a:solidFill>
                <a:latin typeface="Trebuchet MS"/>
                <a:cs typeface="Trebuchet MS"/>
              </a:rPr>
              <a:t> </a:t>
            </a:r>
            <a:r>
              <a:rPr dirty="0" sz="1200" spc="-10" i="1">
                <a:solidFill>
                  <a:srgbClr val="CAD4E0"/>
                </a:solidFill>
                <a:latin typeface="Trebuchet MS"/>
                <a:cs typeface="Trebuchet MS"/>
              </a:rPr>
              <a:t>sprint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65759" y="1225437"/>
            <a:ext cx="960119" cy="384175"/>
          </a:xfrm>
          <a:custGeom>
            <a:avLst/>
            <a:gdLst/>
            <a:ahLst/>
            <a:cxnLst/>
            <a:rect l="l" t="t" r="r" b="b"/>
            <a:pathLst>
              <a:path w="960119" h="384175">
                <a:moveTo>
                  <a:pt x="959764" y="0"/>
                </a:moveTo>
                <a:lnTo>
                  <a:pt x="0" y="0"/>
                </a:lnTo>
                <a:lnTo>
                  <a:pt x="0" y="383768"/>
                </a:lnTo>
                <a:lnTo>
                  <a:pt x="479882" y="383768"/>
                </a:lnTo>
                <a:lnTo>
                  <a:pt x="959764" y="383768"/>
                </a:lnTo>
                <a:lnTo>
                  <a:pt x="959764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65759" y="1225437"/>
            <a:ext cx="960119" cy="38417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9984" y="1203022"/>
            <a:ext cx="46462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Admin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Dashboard</a:t>
            </a:r>
            <a:endParaRPr sz="1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Monitor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delivery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stats,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job</a:t>
            </a:r>
            <a:r>
              <a:rPr dirty="0" sz="1000" spc="1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statuses,</a:t>
            </a:r>
            <a:r>
              <a:rPr dirty="0" sz="1000" spc="9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DLQ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entries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dirty="0" sz="1000" spc="1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queue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health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in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real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CAD4E0"/>
                </a:solidFill>
                <a:latin typeface="Arial MT"/>
                <a:cs typeface="Arial MT"/>
              </a:rPr>
              <a:t>time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9104" y="1840866"/>
            <a:ext cx="8059420" cy="31115"/>
            <a:chOff x="359104" y="1840866"/>
            <a:chExt cx="8059420" cy="31115"/>
          </a:xfrm>
        </p:grpSpPr>
        <p:sp>
          <p:nvSpPr>
            <p:cNvPr id="12" name="object 12" descr=""/>
            <p:cNvSpPr/>
            <p:nvPr/>
          </p:nvSpPr>
          <p:spPr>
            <a:xfrm>
              <a:off x="365404" y="1847166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8046351" y="0"/>
                  </a:moveTo>
                  <a:lnTo>
                    <a:pt x="0" y="0"/>
                  </a:lnTo>
                  <a:lnTo>
                    <a:pt x="0" y="17995"/>
                  </a:lnTo>
                  <a:lnTo>
                    <a:pt x="4023360" y="17995"/>
                  </a:lnTo>
                  <a:lnTo>
                    <a:pt x="8046351" y="17995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5404" y="1847166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4023360" y="17995"/>
                  </a:moveTo>
                  <a:lnTo>
                    <a:pt x="0" y="17995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17995"/>
                  </a:lnTo>
                  <a:lnTo>
                    <a:pt x="4023360" y="17995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365759" y="1974966"/>
            <a:ext cx="960119" cy="384175"/>
          </a:xfrm>
          <a:custGeom>
            <a:avLst/>
            <a:gdLst/>
            <a:ahLst/>
            <a:cxnLst/>
            <a:rect l="l" t="t" r="r" b="b"/>
            <a:pathLst>
              <a:path w="960119" h="384175">
                <a:moveTo>
                  <a:pt x="959764" y="0"/>
                </a:moveTo>
                <a:lnTo>
                  <a:pt x="0" y="0"/>
                </a:lnTo>
                <a:lnTo>
                  <a:pt x="0" y="383755"/>
                </a:lnTo>
                <a:lnTo>
                  <a:pt x="479882" y="383755"/>
                </a:lnTo>
                <a:lnTo>
                  <a:pt x="959764" y="383755"/>
                </a:lnTo>
                <a:lnTo>
                  <a:pt x="959764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65759" y="1974966"/>
            <a:ext cx="960119" cy="384175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49984" y="1952893"/>
            <a:ext cx="52832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Retry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Exponential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Backoff</a:t>
            </a:r>
            <a:endParaRPr sz="1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Configurable</a:t>
            </a: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per-job</a:t>
            </a: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backoff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[10s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Segoe UI Symbol"/>
                <a:cs typeface="Segoe UI Symbol"/>
              </a:rPr>
              <a:t>→</a:t>
            </a:r>
            <a:r>
              <a:rPr dirty="0" sz="1000" spc="60">
                <a:solidFill>
                  <a:srgbClr val="CAD4E0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30s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Segoe UI Symbol"/>
                <a:cs typeface="Segoe UI Symbol"/>
              </a:rPr>
              <a:t>→</a:t>
            </a:r>
            <a:r>
              <a:rPr dirty="0" sz="1000" spc="60">
                <a:solidFill>
                  <a:srgbClr val="CAD4E0"/>
                </a:solidFill>
                <a:latin typeface="Segoe UI Symbol"/>
                <a:cs typeface="Segoe UI Symbol"/>
              </a:rPr>
              <a:t> 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2m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Segoe UI Symbol"/>
                <a:cs typeface="Segoe UI Symbol"/>
              </a:rPr>
              <a:t>→</a:t>
            </a:r>
            <a:r>
              <a:rPr dirty="0" sz="1000" spc="55">
                <a:solidFill>
                  <a:srgbClr val="CAD4E0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10m</a:t>
            </a: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Segoe UI Symbol"/>
                <a:cs typeface="Segoe UI Symbol"/>
              </a:rPr>
              <a:t>→</a:t>
            </a:r>
            <a:r>
              <a:rPr dirty="0" sz="1000" spc="55">
                <a:solidFill>
                  <a:srgbClr val="CAD4E0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30m]</a:t>
            </a: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000" spc="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DLQ</a:t>
            </a:r>
            <a:r>
              <a:rPr dirty="0" sz="1000" spc="4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on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max</a:t>
            </a:r>
            <a:r>
              <a:rPr dirty="0" sz="1000" spc="4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35">
                <a:solidFill>
                  <a:srgbClr val="CAD4E0"/>
                </a:solidFill>
                <a:latin typeface="Arial MT"/>
                <a:cs typeface="Arial MT"/>
              </a:rPr>
              <a:t>attempts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59104" y="2590737"/>
            <a:ext cx="8059420" cy="31115"/>
            <a:chOff x="359104" y="2590737"/>
            <a:chExt cx="8059420" cy="31115"/>
          </a:xfrm>
        </p:grpSpPr>
        <p:sp>
          <p:nvSpPr>
            <p:cNvPr id="18" name="object 18" descr=""/>
            <p:cNvSpPr/>
            <p:nvPr/>
          </p:nvSpPr>
          <p:spPr>
            <a:xfrm>
              <a:off x="365404" y="2597037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8046351" y="0"/>
                  </a:moveTo>
                  <a:lnTo>
                    <a:pt x="0" y="0"/>
                  </a:lnTo>
                  <a:lnTo>
                    <a:pt x="0" y="18008"/>
                  </a:lnTo>
                  <a:lnTo>
                    <a:pt x="4023360" y="18008"/>
                  </a:lnTo>
                  <a:lnTo>
                    <a:pt x="8046351" y="18008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65404" y="2597037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4023360" y="18008"/>
                  </a:moveTo>
                  <a:lnTo>
                    <a:pt x="0" y="18008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18008"/>
                  </a:lnTo>
                  <a:lnTo>
                    <a:pt x="4023360" y="18008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365759" y="2724837"/>
            <a:ext cx="960119" cy="384175"/>
          </a:xfrm>
          <a:custGeom>
            <a:avLst/>
            <a:gdLst/>
            <a:ahLst/>
            <a:cxnLst/>
            <a:rect l="l" t="t" r="r" b="b"/>
            <a:pathLst>
              <a:path w="960119" h="384175">
                <a:moveTo>
                  <a:pt x="959764" y="0"/>
                </a:moveTo>
                <a:lnTo>
                  <a:pt x="0" y="0"/>
                </a:lnTo>
                <a:lnTo>
                  <a:pt x="0" y="383768"/>
                </a:lnTo>
                <a:lnTo>
                  <a:pt x="479882" y="383768"/>
                </a:lnTo>
                <a:lnTo>
                  <a:pt x="959764" y="383768"/>
                </a:lnTo>
                <a:lnTo>
                  <a:pt x="959764" y="0"/>
                </a:lnTo>
                <a:close/>
              </a:path>
            </a:pathLst>
          </a:custGeom>
          <a:solidFill>
            <a:srgbClr val="0268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65759" y="2724837"/>
            <a:ext cx="960119" cy="384175"/>
          </a:xfrm>
          <a:prstGeom prst="rect">
            <a:avLst/>
          </a:prstGeom>
          <a:ln w="12599">
            <a:solidFill>
              <a:srgbClr val="0268A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49984" y="2702778"/>
            <a:ext cx="50717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Registration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5">
                <a:solidFill>
                  <a:srgbClr val="FFFFFF"/>
                </a:solidFill>
                <a:latin typeface="Arial Black"/>
                <a:cs typeface="Arial Black"/>
              </a:rPr>
              <a:t>Token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API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Management</a:t>
            </a:r>
            <a:endParaRPr sz="1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Issue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CAD4E0"/>
                </a:solidFill>
                <a:latin typeface="Arial MT"/>
                <a:cs typeface="Arial MT"/>
              </a:rPr>
              <a:t>&amp;</a:t>
            </a:r>
            <a:r>
              <a:rPr dirty="0" sz="1000" spc="8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validate</a:t>
            </a:r>
            <a:r>
              <a:rPr dirty="0" sz="1000" spc="11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API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keys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per</a:t>
            </a:r>
            <a:r>
              <a:rPr dirty="0" sz="1000" spc="10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client_id;</a:t>
            </a:r>
            <a:r>
              <a:rPr dirty="0" sz="1000" spc="8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replace</a:t>
            </a:r>
            <a:r>
              <a:rPr dirty="0" sz="1000" spc="8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open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/notify</a:t>
            </a:r>
            <a:r>
              <a:rPr dirty="0" sz="1000" spc="9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authenticated</a:t>
            </a:r>
            <a:r>
              <a:rPr dirty="0" sz="1000" spc="8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access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59104" y="3340266"/>
            <a:ext cx="8059420" cy="31115"/>
            <a:chOff x="359104" y="3340266"/>
            <a:chExt cx="8059420" cy="31115"/>
          </a:xfrm>
        </p:grpSpPr>
        <p:sp>
          <p:nvSpPr>
            <p:cNvPr id="24" name="object 24" descr=""/>
            <p:cNvSpPr/>
            <p:nvPr/>
          </p:nvSpPr>
          <p:spPr>
            <a:xfrm>
              <a:off x="365404" y="3346566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8046351" y="0"/>
                  </a:moveTo>
                  <a:lnTo>
                    <a:pt x="0" y="0"/>
                  </a:lnTo>
                  <a:lnTo>
                    <a:pt x="0" y="17995"/>
                  </a:lnTo>
                  <a:lnTo>
                    <a:pt x="4023360" y="17995"/>
                  </a:lnTo>
                  <a:lnTo>
                    <a:pt x="8046351" y="17995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5404" y="3346566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4023360" y="17995"/>
                  </a:moveTo>
                  <a:lnTo>
                    <a:pt x="0" y="17995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17995"/>
                  </a:lnTo>
                  <a:lnTo>
                    <a:pt x="4023360" y="17995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365759" y="3474722"/>
            <a:ext cx="960119" cy="384175"/>
          </a:xfrm>
          <a:custGeom>
            <a:avLst/>
            <a:gdLst/>
            <a:ahLst/>
            <a:cxnLst/>
            <a:rect l="l" t="t" r="r" b="b"/>
            <a:pathLst>
              <a:path w="960119" h="384175">
                <a:moveTo>
                  <a:pt x="959764" y="0"/>
                </a:moveTo>
                <a:lnTo>
                  <a:pt x="0" y="0"/>
                </a:lnTo>
                <a:lnTo>
                  <a:pt x="0" y="383755"/>
                </a:lnTo>
                <a:lnTo>
                  <a:pt x="479882" y="383755"/>
                </a:lnTo>
                <a:lnTo>
                  <a:pt x="959764" y="383755"/>
                </a:lnTo>
                <a:lnTo>
                  <a:pt x="959764" y="0"/>
                </a:lnTo>
                <a:close/>
              </a:path>
            </a:pathLst>
          </a:custGeom>
          <a:solidFill>
            <a:srgbClr val="0268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65759" y="3474722"/>
            <a:ext cx="960119" cy="384175"/>
          </a:xfrm>
          <a:prstGeom prst="rect">
            <a:avLst/>
          </a:prstGeom>
          <a:ln w="12599">
            <a:solidFill>
              <a:srgbClr val="0268A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49984" y="3452662"/>
            <a:ext cx="48494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Additional</a:t>
            </a: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Notification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 Channels</a:t>
            </a:r>
            <a:endParaRPr sz="1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Extend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Unified</a:t>
            </a:r>
            <a:r>
              <a:rPr dirty="0" sz="1000" spc="114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Notification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API</a:t>
            </a:r>
            <a:r>
              <a:rPr dirty="0" sz="1000" spc="114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new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channel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types</a:t>
            </a:r>
            <a:r>
              <a:rPr dirty="0" sz="1000" spc="10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(e.g.</a:t>
            </a:r>
            <a:r>
              <a:rPr dirty="0" sz="1000" spc="114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AD4E0"/>
                </a:solidFill>
                <a:latin typeface="Arial MT"/>
                <a:cs typeface="Arial MT"/>
              </a:rPr>
              <a:t>In-App,</a:t>
            </a:r>
            <a:r>
              <a:rPr dirty="0" sz="1000" spc="114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CAD4E0"/>
                </a:solidFill>
                <a:latin typeface="Arial MT"/>
                <a:cs typeface="Arial MT"/>
              </a:rPr>
              <a:t>Slack,</a:t>
            </a:r>
            <a:r>
              <a:rPr dirty="0" sz="1000" spc="9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Teams)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59104" y="4090137"/>
            <a:ext cx="8059420" cy="31115"/>
            <a:chOff x="359104" y="4090137"/>
            <a:chExt cx="8059420" cy="31115"/>
          </a:xfrm>
        </p:grpSpPr>
        <p:sp>
          <p:nvSpPr>
            <p:cNvPr id="30" name="object 30" descr=""/>
            <p:cNvSpPr/>
            <p:nvPr/>
          </p:nvSpPr>
          <p:spPr>
            <a:xfrm>
              <a:off x="365404" y="4096437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8046351" y="0"/>
                  </a:moveTo>
                  <a:lnTo>
                    <a:pt x="0" y="0"/>
                  </a:lnTo>
                  <a:lnTo>
                    <a:pt x="0" y="18008"/>
                  </a:lnTo>
                  <a:lnTo>
                    <a:pt x="4023360" y="18008"/>
                  </a:lnTo>
                  <a:lnTo>
                    <a:pt x="8046351" y="18008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65404" y="4096437"/>
              <a:ext cx="8046720" cy="18415"/>
            </a:xfrm>
            <a:custGeom>
              <a:avLst/>
              <a:gdLst/>
              <a:ahLst/>
              <a:cxnLst/>
              <a:rect l="l" t="t" r="r" b="b"/>
              <a:pathLst>
                <a:path w="8046720" h="18414">
                  <a:moveTo>
                    <a:pt x="4023360" y="18008"/>
                  </a:moveTo>
                  <a:lnTo>
                    <a:pt x="0" y="18008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18008"/>
                  </a:lnTo>
                  <a:lnTo>
                    <a:pt x="4023360" y="18008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/>
          <p:nvPr/>
        </p:nvSpPr>
        <p:spPr>
          <a:xfrm>
            <a:off x="365759" y="4224606"/>
            <a:ext cx="960119" cy="384175"/>
          </a:xfrm>
          <a:custGeom>
            <a:avLst/>
            <a:gdLst/>
            <a:ahLst/>
            <a:cxnLst/>
            <a:rect l="l" t="t" r="r" b="b"/>
            <a:pathLst>
              <a:path w="960119" h="384175">
                <a:moveTo>
                  <a:pt x="959764" y="0"/>
                </a:moveTo>
                <a:lnTo>
                  <a:pt x="0" y="0"/>
                </a:lnTo>
                <a:lnTo>
                  <a:pt x="0" y="383755"/>
                </a:lnTo>
                <a:lnTo>
                  <a:pt x="479882" y="383755"/>
                </a:lnTo>
                <a:lnTo>
                  <a:pt x="959764" y="383755"/>
                </a:lnTo>
                <a:lnTo>
                  <a:pt x="959764" y="0"/>
                </a:lnTo>
                <a:close/>
              </a:path>
            </a:pathLst>
          </a:custGeom>
          <a:solidFill>
            <a:srgbClr val="D876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365759" y="4224606"/>
            <a:ext cx="960119" cy="384175"/>
          </a:xfrm>
          <a:prstGeom prst="rect">
            <a:avLst/>
          </a:prstGeom>
          <a:ln w="12599">
            <a:solidFill>
              <a:srgbClr val="D87605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231140">
              <a:lnSpc>
                <a:spcPct val="100000"/>
              </a:lnSpc>
              <a:spcBef>
                <a:spcPts val="969"/>
              </a:spcBef>
            </a:pP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Optional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49984" y="4202177"/>
            <a:ext cx="49149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Channel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Fallback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Mechanism</a:t>
            </a:r>
            <a:endParaRPr sz="1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If</a:t>
            </a:r>
            <a:r>
              <a:rPr dirty="0" sz="1000" spc="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CAD4E0"/>
                </a:solidFill>
                <a:latin typeface="Arial MT"/>
                <a:cs typeface="Arial MT"/>
              </a:rPr>
              <a:t>primary</a:t>
            </a:r>
            <a:r>
              <a:rPr dirty="0" sz="1000" spc="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channel</a:t>
            </a:r>
            <a:r>
              <a:rPr dirty="0" sz="1000" spc="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fails</a:t>
            </a:r>
            <a:r>
              <a:rPr dirty="0" sz="1000" spc="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after</a:t>
            </a:r>
            <a:r>
              <a:rPr dirty="0" sz="1000" spc="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retries,</a:t>
            </a:r>
            <a:r>
              <a:rPr dirty="0" sz="1000" spc="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auto-</a:t>
            </a:r>
            <a:r>
              <a:rPr dirty="0" sz="1000" spc="10">
                <a:solidFill>
                  <a:srgbClr val="CAD4E0"/>
                </a:solidFill>
                <a:latin typeface="Arial MT"/>
                <a:cs typeface="Arial MT"/>
              </a:rPr>
              <a:t>escalate</a:t>
            </a:r>
            <a:r>
              <a:rPr dirty="0" sz="1000" spc="4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dirty="0" sz="1000" spc="3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dirty="0" sz="1000" spc="3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configured</a:t>
            </a:r>
            <a:r>
              <a:rPr dirty="0" sz="1000" spc="25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CAD4E0"/>
                </a:solidFill>
                <a:latin typeface="Arial MT"/>
                <a:cs typeface="Arial MT"/>
              </a:rPr>
              <a:t>fallback </a:t>
            </a:r>
            <a:r>
              <a:rPr dirty="0" sz="1000" spc="-10">
                <a:solidFill>
                  <a:srgbClr val="CAD4E0"/>
                </a:solidFill>
                <a:latin typeface="Arial MT"/>
                <a:cs typeface="Arial MT"/>
              </a:rPr>
              <a:t>channel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Notification Framework</dc:title>
  <dcterms:created xsi:type="dcterms:W3CDTF">2026-03-23T20:22:36Z</dcterms:created>
  <dcterms:modified xsi:type="dcterms:W3CDTF">2026-03-23T20:22:36Z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2026-03-24T00:00:00Z</vt:filetime>
  </property>
</Properties>
</file>